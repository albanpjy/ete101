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88952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11524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75922624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Durée totale : 15 min. Répartition : Intro 2 min | Partie I 4 min | Partie II 4 min | Partie III 3 min | Conclusion 2 min.</a:t>
            </a:r>
            <a:endParaRPr/>
          </a:p>
          <a:p>
            <a:pPr>
              <a:defRPr/>
            </a:pPr>
            <a:r>
              <a:rPr/>
              <a:t>Accueil, présentation de l'équipe et de l'UE.</a:t>
            </a:r>
            <a:endParaRPr/>
          </a:p>
        </p:txBody>
      </p:sp>
      <p:sp>
        <p:nvSpPr>
          <p:cNvPr id="76211178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70617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32126497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Ouvrir avec la citation de Marx — elle sera le fil rouge.</a:t>
            </a:r>
            <a:endParaRPr/>
          </a:p>
          <a:p>
            <a:pPr>
              <a:defRPr/>
            </a:pPr>
            <a:r>
              <a:rPr/>
              <a:t>Rappeler que Taylor a inventé le chronométrage des gestes en 1911 : aujourd'hui c'est l'algorithme qui chronomètre à la milliseconde.</a:t>
            </a:r>
            <a:endParaRPr/>
          </a:p>
          <a:p>
            <a:pPr>
              <a:defRPr/>
            </a:pPr>
            <a:r>
              <a:rPr/>
              <a:t>Le numérique ne continue pas Taylor — il l'amplifie et l'étend.</a:t>
            </a:r>
            <a:endParaRPr/>
          </a:p>
        </p:txBody>
      </p:sp>
      <p:sp>
        <p:nvSpPr>
          <p:cNvPr id="118148260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76620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32528839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La reformulation montre qu'on sort du sujet 'numérique = progrès'.</a:t>
            </a:r>
            <a:endParaRPr/>
          </a:p>
          <a:p>
            <a:pPr>
              <a:defRPr/>
            </a:pPr>
            <a:r>
              <a:rPr/>
              <a:t>L'idée maîtresse relie les 3 parties : même logique taylorienne, 3 déclinaisons.</a:t>
            </a:r>
            <a:endParaRPr/>
          </a:p>
          <a:p>
            <a:pPr>
              <a:defRPr/>
            </a:pPr>
            <a:r>
              <a:rPr/>
              <a:t>Max Weber : autonomie 'au' travail (méthodes) et 'du' travail (pouvoir collectif) — toutes deux en recul.</a:t>
            </a:r>
            <a:endParaRPr/>
          </a:p>
        </p:txBody>
      </p:sp>
      <p:sp>
        <p:nvSpPr>
          <p:cNvPr id="185040696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725053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03006863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Annoncer la cohérence des 3 parties : même logique, 3 déclinaisons.</a:t>
            </a:r>
            <a:endParaRPr/>
          </a:p>
          <a:p>
            <a:pPr>
              <a:defRPr/>
            </a:pPr>
            <a:r>
              <a:rPr/>
              <a:t>Transition : 'Commençons par là où le phénomène est le plus documenté : l'entrepôt.'</a:t>
            </a:r>
            <a:endParaRPr/>
          </a:p>
        </p:txBody>
      </p:sp>
      <p:sp>
        <p:nvSpPr>
          <p:cNvPr id="39597680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270298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486972176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Insister sur le fait que la logistique est le laboratoire historique du taylorisme.</a:t>
            </a:r>
            <a:endParaRPr/>
          </a:p>
          <a:p>
            <a:pPr>
              <a:defRPr/>
            </a:pPr>
            <a:r>
              <a:rPr/>
              <a:t>Le terme 'usine à colis' (Gaborieau, 2016) dit tout : l'entrepôt est devenu une usine.</a:t>
            </a:r>
            <a:endParaRPr/>
          </a:p>
        </p:txBody>
      </p:sp>
      <p:sp>
        <p:nvSpPr>
          <p:cNvPr id="123170446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12611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637856520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Concept : 'taylorisme numérique' (digital Taylorism) — Hirsch-Kreinsen (2016).</a:t>
            </a:r>
            <a:endParaRPr/>
          </a:p>
          <a:p>
            <a:pPr>
              <a:defRPr/>
            </a:pPr>
            <a:r>
              <a:rPr/>
              <a:t>Insister sur la dimension symbolique : l'ouvrier perd son identité professionnelle.</a:t>
            </a:r>
            <a:endParaRPr/>
          </a:p>
          <a:p>
            <a:pPr>
              <a:defRPr/>
            </a:pPr>
            <a:r>
              <a:rPr/>
              <a:t>Avant le voice-picking, il y avait un 'métier' ; aujourd'hui il n'y a qu'un 'opérateur'.</a:t>
            </a:r>
            <a:endParaRPr/>
          </a:p>
          <a:p>
            <a:pPr>
              <a:defRPr/>
            </a:pPr>
            <a:r>
              <a:rPr/>
              <a:t>Marx : l'ouvrier comme 'appendice de la machine' — la machine est maintenant un algorithme.</a:t>
            </a:r>
            <a:endParaRPr/>
          </a:p>
        </p:txBody>
      </p:sp>
      <p:sp>
        <p:nvSpPr>
          <p:cNvPr id="141726902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4593465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48312023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Référence Foucault/Bentham : le Panopticon — être potentiellement observé à tout moment</a:t>
            </a:r>
            <a:endParaRPr/>
          </a:p>
          <a:p>
            <a:pPr>
              <a:defRPr/>
            </a:pPr>
            <a:r>
              <a:rPr/>
              <a:t>suffit à modifier le comportement. Le KPI numérique est le panopticon parfait.</a:t>
            </a:r>
            <a:endParaRPr/>
          </a:p>
          <a:p>
            <a:pPr>
              <a:defRPr/>
            </a:pPr>
            <a:r>
              <a:rPr/>
              <a:t>Le paradoxe : la formule d'intéressement est parfois si complexe que les salariés</a:t>
            </a:r>
            <a:endParaRPr/>
          </a:p>
          <a:p>
            <a:pPr>
              <a:defRPr/>
            </a:pPr>
            <a:r>
              <a:rPr/>
              <a:t>ne savent pas comment leur prime est calculée — perte de sens ET de contrôle.</a:t>
            </a:r>
            <a:endParaRPr/>
          </a:p>
        </p:txBody>
      </p:sp>
      <p:sp>
        <p:nvSpPr>
          <p:cNvPr id="189496113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91243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95210746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Point théorique fort : le numérique reproduit la logique du taylorisme-fordisme des années 1910-1920,</a:t>
            </a:r>
            <a:endParaRPr/>
          </a:p>
          <a:p>
            <a:pPr>
              <a:defRPr/>
            </a:pPr>
            <a:r>
              <a:rPr/>
              <a:t>qui avait intégré des immigrants et ruraux non qualifiés pour casser le pouvoir des ouvriers qualifiés.</a:t>
            </a:r>
            <a:endParaRPr/>
          </a:p>
          <a:p>
            <a:pPr>
              <a:defRPr/>
            </a:pPr>
            <a:r>
              <a:rPr/>
              <a:t>TRANSITION : 'Ce modèle ne reste pas confiné à l'entrepôt. Il migre vers le monde ouvert</a:t>
            </a:r>
            <a:endParaRPr/>
          </a:p>
          <a:p>
            <a:pPr>
              <a:defRPr/>
            </a:pPr>
            <a:r>
              <a:rPr/>
              <a:t>des plateformes numériques, sous un habillage d'indépendance.'</a:t>
            </a:r>
            <a:endParaRPr/>
          </a:p>
        </p:txBody>
      </p:sp>
      <p:sp>
        <p:nvSpPr>
          <p:cNvPr id="85692158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95838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66636817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L'ubérisation est la déclinaison 'disruptive' du néo-taylorisme :</a:t>
            </a:r>
            <a:endParaRPr/>
          </a:p>
          <a:p>
            <a:pPr>
              <a:defRPr/>
            </a:pPr>
            <a:r>
              <a:rPr/>
              <a:t>même logique de contrôle, mais sans le contrat de travail.</a:t>
            </a:r>
            <a:endParaRPr/>
          </a:p>
        </p:txBody>
      </p:sp>
      <p:sp>
        <p:nvSpPr>
          <p:cNvPr id="94154768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758908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67213746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Concept clé : la 'subordination algorithmique' — le travailleur obéit à un code informatique</a:t>
            </a:r>
            <a:endParaRPr/>
          </a:p>
          <a:p>
            <a:pPr>
              <a:defRPr/>
            </a:pPr>
            <a:r>
              <a:rPr/>
              <a:t>plutôt qu'à un supérieur humain, mais la subordination est identique, voire plus forte.</a:t>
            </a:r>
            <a:endParaRPr/>
          </a:p>
          <a:p>
            <a:pPr>
              <a:defRPr/>
            </a:pPr>
            <a:r>
              <a:rPr/>
              <a:t>La directive EU 2024 est une révolution juridique : inversion de la charge de la preuve.</a:t>
            </a:r>
            <a:endParaRPr/>
          </a:p>
        </p:txBody>
      </p:sp>
      <p:sp>
        <p:nvSpPr>
          <p:cNvPr id="83236636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98593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26365454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Chiffre choc : 3€/heure net — moins qu'un ouvrier agricole au XIXe siècle en pouvoir d'achat réel.</a:t>
            </a:r>
            <a:endParaRPr/>
          </a:p>
          <a:p>
            <a:pPr>
              <a:defRPr/>
            </a:pPr>
            <a:r>
              <a:rPr/>
              <a:t>La sous-location de comptes est illégale mais tolérée par les plateformes car cela ne les 'regarde pas'.</a:t>
            </a:r>
            <a:endParaRPr/>
          </a:p>
        </p:txBody>
      </p:sp>
      <p:sp>
        <p:nvSpPr>
          <p:cNvPr id="527640623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748588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35877527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La directive européenne 2024 répond directement à cette problématique :</a:t>
            </a:r>
            <a:endParaRPr/>
          </a:p>
          <a:p>
            <a:pPr>
              <a:defRPr/>
            </a:pPr>
            <a:r>
              <a:rPr/>
              <a:t>présomption de salariat, transparence algorithmique obligatoire, droit de contestation.</a:t>
            </a:r>
            <a:endParaRPr/>
          </a:p>
          <a:p>
            <a:pPr>
              <a:defRPr/>
            </a:pPr>
            <a:r>
              <a:rPr/>
              <a:t>TRANSITION : 'On pourrait croire que cela ne touche que les travailleurs manuels.</a:t>
            </a:r>
            <a:endParaRPr/>
          </a:p>
          <a:p>
            <a:pPr>
              <a:defRPr/>
            </a:pPr>
            <a:r>
              <a:rPr/>
              <a:t>Or la dictature algorithmique gagne maintenant les bureaux et même les cadres.'</a:t>
            </a:r>
            <a:endParaRPr/>
          </a:p>
        </p:txBody>
      </p:sp>
      <p:sp>
        <p:nvSpPr>
          <p:cNvPr id="144411215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36551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12951704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Cette partie est la plus surprenante : le néo-taylorisme ne se limite pas aux cols bleus.</a:t>
            </a:r>
            <a:endParaRPr/>
          </a:p>
          <a:p>
            <a:pPr>
              <a:defRPr/>
            </a:pPr>
            <a:r>
              <a:rPr/>
              <a:t>Il envahit les bureaux via les ERP, les CRM, les logiciels de productivité.</a:t>
            </a:r>
            <a:endParaRPr/>
          </a:p>
        </p:txBody>
      </p:sp>
      <p:sp>
        <p:nvSpPr>
          <p:cNvPr id="68422568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94609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858262081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Ce slide montre que le néo-taylorisme n'est pas réservé aux 'cols bleus'.</a:t>
            </a:r>
            <a:endParaRPr/>
          </a:p>
          <a:p>
            <a:pPr>
              <a:defRPr/>
            </a:pPr>
            <a:r>
              <a:rPr/>
              <a:t>Le 'management par les processus' standardise le travail intellectuel de la même façon</a:t>
            </a:r>
            <a:endParaRPr/>
          </a:p>
          <a:p>
            <a:pPr>
              <a:defRPr/>
            </a:pPr>
            <a:r>
              <a:rPr/>
              <a:t>que Taylor standardisait le geste ouvrier.</a:t>
            </a:r>
            <a:endParaRPr/>
          </a:p>
          <a:p>
            <a:pPr>
              <a:defRPr/>
            </a:pPr>
            <a:r>
              <a:rPr/>
              <a:t>Perez &amp; Coutrot (Seuil, 2022) : la quête de sens est la 1ère aspiration des salariés français.</a:t>
            </a:r>
            <a:endParaRPr/>
          </a:p>
        </p:txBody>
      </p:sp>
      <p:sp>
        <p:nvSpPr>
          <p:cNvPr id="1024951615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329711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909829606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Clot : la 'qualité empêchée' est plus destructrice que la surcharge de travail.</a:t>
            </a:r>
            <a:endParaRPr/>
          </a:p>
          <a:p>
            <a:pPr>
              <a:defRPr/>
            </a:pPr>
            <a:r>
              <a:rPr/>
              <a:t>C'est l'impossibilité de bien faire qui génère le burn-out, pas seulement la quantité.</a:t>
            </a:r>
            <a:endParaRPr/>
          </a:p>
        </p:txBody>
      </p:sp>
      <p:sp>
        <p:nvSpPr>
          <p:cNvPr id="2055590278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25830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502851911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Emma est un outil pédagogique très efficace : elle rend visibles des pathologies abstraites.</a:t>
            </a:r>
            <a:endParaRPr/>
          </a:p>
          <a:p>
            <a:pPr>
              <a:defRPr/>
            </a:pPr>
            <a:r>
              <a:rPr/>
              <a:t>Perez &amp; Coutrot : les 'bullshit jobs' (Graeber) perçus comme tels par 30% des salariés.</a:t>
            </a:r>
            <a:endParaRPr/>
          </a:p>
          <a:p>
            <a:pPr>
              <a:defRPr/>
            </a:pPr>
            <a:r>
              <a:rPr/>
              <a:t>TRANSITION vers la slide Rifkin : 'Ces transformations ne sont pas nouvelles : dès 1995,</a:t>
            </a:r>
            <a:endParaRPr/>
          </a:p>
          <a:p>
            <a:pPr>
              <a:defRPr/>
            </a:pPr>
            <a:r>
              <a:rPr/>
              <a:t>un économiste américain avait tout prévu...'</a:t>
            </a:r>
            <a:endParaRPr/>
          </a:p>
        </p:txBody>
      </p:sp>
      <p:sp>
        <p:nvSpPr>
          <p:cNvPr id="23832467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546871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552542067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Rifkin anticipait dès 1995 exactement ce qu'on observe aujourd'hui :</a:t>
            </a:r>
            <a:endParaRPr/>
          </a:p>
          <a:p>
            <a:pPr>
              <a:defRPr/>
            </a:pPr>
            <a:r>
              <a:rPr/>
              <a:t>- Les emplois traditionnels disparaissent plus vite que de nouveaux se créent</a:t>
            </a:r>
            <a:endParaRPr/>
          </a:p>
          <a:p>
            <a:pPr>
              <a:defRPr/>
            </a:pPr>
            <a:r>
              <a:rPr/>
              <a:t>- Le précariat numérique (gig economy) est son scénario pessimiste réalisé</a:t>
            </a:r>
            <a:endParaRPr/>
          </a:p>
          <a:p>
            <a:pPr>
              <a:defRPr/>
            </a:pPr>
            <a:r>
              <a:rPr/>
              <a:t>- La 'robot tax' (impôt sur l'automatisation) est débattue au Parlement européen en 2024-2025</a:t>
            </a:r>
            <a:endParaRPr/>
          </a:p>
          <a:p>
            <a:pPr>
              <a:defRPr/>
            </a:pPr>
            <a:r>
              <a:rPr/>
              <a:t>- Son concept de 'coût marginal zéro' explique pourquoi Uber ne supporte aucun coût fixe : tous les risques sont portés par les 'indépendants'.</a:t>
            </a:r>
            <a:endParaRPr/>
          </a:p>
          <a:p>
            <a:pPr>
              <a:defRPr/>
            </a:pPr>
            <a:r>
              <a:rPr/>
              <a:t>La question finale de Rifkin : 'Qui contrôle l'algorithme ?' détermine si la technologie libère ou asservit.</a:t>
            </a:r>
            <a:endParaRPr/>
          </a:p>
        </p:txBody>
      </p:sp>
      <p:sp>
        <p:nvSpPr>
          <p:cNvPr id="126788156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24215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7293593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Reprendre l'idée maîtresse : 'Le numérique n'a pas libéré le travailleur — il a industrialisé le tertiaire.'</a:t>
            </a:r>
            <a:endParaRPr/>
          </a:p>
          <a:p>
            <a:pPr>
              <a:defRPr/>
            </a:pPr>
            <a:r>
              <a:rPr/>
              <a:t>Trois niveaux d'aliénation : corps (entrepôts), statut (plateformes), sens (cadres).</a:t>
            </a:r>
            <a:endParaRPr/>
          </a:p>
          <a:p>
            <a:pPr>
              <a:defRPr/>
            </a:pPr>
            <a:r>
              <a:rPr/>
              <a:t>Réponses partielles : directive EU 2024, jurisprudences, résistances syndicales, pénurie post-Covid.</a:t>
            </a:r>
            <a:endParaRPr/>
          </a:p>
        </p:txBody>
      </p:sp>
      <p:sp>
        <p:nvSpPr>
          <p:cNvPr id="93192536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88132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02288118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IA générative : aujourd'hui déjà, des avocats, médecins, développeurs voient leurs tâches automatisées.</a:t>
            </a:r>
            <a:endParaRPr/>
          </a:p>
          <a:p>
            <a:pPr>
              <a:defRPr/>
            </a:pPr>
            <a:r>
              <a:rPr/>
              <a:t>Question fondamentale : la technologie est un outil, pas une fatalité.</a:t>
            </a:r>
            <a:endParaRPr/>
          </a:p>
          <a:p>
            <a:pPr>
              <a:defRPr/>
            </a:pPr>
            <a:r>
              <a:rPr/>
              <a:t>Rifkin (1996) proposait un 'tiers secteur' pour réabsorber les travailleurs déplacés — utopie ou anticipation ?</a:t>
            </a:r>
            <a:endParaRPr/>
          </a:p>
          <a:p>
            <a:pPr>
              <a:defRPr/>
            </a:pPr>
            <a:r>
              <a:rPr/>
              <a:t>Robotique humanoïde : Tesla Optimus en déploiement dans des usines dès 2025-2026.</a:t>
            </a:r>
            <a:endParaRPr/>
          </a:p>
          <a:p>
            <a:pPr>
              <a:defRPr/>
            </a:pPr>
            <a:r>
              <a:rPr/>
              <a:t>Question finale au public : 'Qui contrôle l'algorithme ?' — c'est la question politique centrale.</a:t>
            </a:r>
            <a:endParaRPr/>
          </a:p>
        </p:txBody>
      </p:sp>
      <p:sp>
        <p:nvSpPr>
          <p:cNvPr id="57011367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9FF385-0B82-74C8-8605-96B5275C9C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172839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85757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0061375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450555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56868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2545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007433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43114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149050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10414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3354328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5923630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701101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852046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06221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9940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78000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4415137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48429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1314137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988037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854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832799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65720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629625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6852481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3489814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2024395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279143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1421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391051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6985406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992502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35813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2546888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084187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523243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28975928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0432092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6572310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40954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79962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534277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8447929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14613266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0646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4778804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278081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4797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295105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45921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976182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25242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32753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4795430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30707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956497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28236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89341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76649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5946913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2242450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476509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7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9716231" name="Oval 1"/>
          <p:cNvSpPr/>
          <p:nvPr/>
        </p:nvSpPr>
        <p:spPr bwMode="auto">
          <a:xfrm>
            <a:off x="-7315200" y="914400"/>
            <a:ext cx="12801600" cy="12801600"/>
          </a:xfrm>
          <a:prstGeom prst="ellipse">
            <a:avLst/>
          </a:prstGeom>
          <a:solidFill>
            <a:srgbClr val="38BDF8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5224641" name="Oval 2"/>
          <p:cNvSpPr/>
          <p:nvPr/>
        </p:nvSpPr>
        <p:spPr bwMode="auto">
          <a:xfrm>
            <a:off x="-2743200" y="2743200"/>
            <a:ext cx="7315200" cy="7315200"/>
          </a:xfrm>
          <a:prstGeom prst="ellipse">
            <a:avLst/>
          </a:prstGeom>
          <a:solidFill>
            <a:srgbClr val="4ADE80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3218695" name="Oval 3"/>
          <p:cNvSpPr/>
          <p:nvPr/>
        </p:nvSpPr>
        <p:spPr bwMode="auto">
          <a:xfrm>
            <a:off x="7159752" y="-5943600"/>
            <a:ext cx="10972800" cy="10972800"/>
          </a:xfrm>
          <a:prstGeom prst="ellipse">
            <a:avLst/>
          </a:prstGeom>
          <a:solidFill>
            <a:srgbClr val="38BDF8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1860009" name="TextBox 4"/>
          <p:cNvSpPr txBox="1"/>
          <p:nvPr/>
        </p:nvSpPr>
        <p:spPr bwMode="auto">
          <a:xfrm>
            <a:off x="54864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64748B"/>
                </a:solidFill>
                <a:latin typeface="Calibri Light"/>
              </a:rPr>
              <a:t>CNAM  ·  UE ETE101  ·  Emploi, politiques publiques et RSE</a:t>
            </a:r>
            <a:endParaRPr/>
          </a:p>
        </p:txBody>
      </p:sp>
      <p:sp>
        <p:nvSpPr>
          <p:cNvPr id="2063769074" name="TextBox 5"/>
          <p:cNvSpPr txBox="1"/>
          <p:nvPr/>
        </p:nvSpPr>
        <p:spPr bwMode="auto">
          <a:xfrm>
            <a:off x="548640" y="137160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Numérique et néo-taylorisme</a:t>
            </a:r>
            <a:endParaRPr/>
          </a:p>
        </p:txBody>
      </p:sp>
      <p:sp>
        <p:nvSpPr>
          <p:cNvPr id="1536142598" name="TextBox 6"/>
          <p:cNvSpPr txBox="1"/>
          <p:nvPr/>
        </p:nvSpPr>
        <p:spPr bwMode="auto"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dans les entreprises</a:t>
            </a:r>
            <a:endParaRPr/>
          </a:p>
        </p:txBody>
      </p:sp>
      <p:sp>
        <p:nvSpPr>
          <p:cNvPr id="551538777" name="Rectangle 7"/>
          <p:cNvSpPr/>
          <p:nvPr/>
        </p:nvSpPr>
        <p:spPr bwMode="auto">
          <a:xfrm>
            <a:off x="4265676" y="3429000"/>
            <a:ext cx="3657600" cy="508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5308621" name="TextBox 8"/>
          <p:cNvSpPr txBox="1"/>
          <p:nvPr/>
        </p:nvSpPr>
        <p:spPr bwMode="auto">
          <a:xfrm>
            <a:off x="548640" y="3611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800" b="0" i="1">
                <a:solidFill>
                  <a:srgbClr val="38BDF8"/>
                </a:solidFill>
                <a:latin typeface="Calibri Light"/>
              </a:rPr>
              <a:t>Quels risques pour les salariés ?</a:t>
            </a:r>
            <a:endParaRPr/>
          </a:p>
        </p:txBody>
      </p:sp>
      <p:sp>
        <p:nvSpPr>
          <p:cNvPr id="1677318619" name="TextBox 9"/>
          <p:cNvSpPr txBox="1"/>
          <p:nvPr/>
        </p:nvSpPr>
        <p:spPr bwMode="auto">
          <a:xfrm>
            <a:off x="54864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700" b="1" i="0">
                <a:solidFill>
                  <a:srgbClr val="CBD5E1"/>
                </a:solidFill>
                <a:latin typeface="Calibri Light"/>
              </a:rPr>
              <a:t>Tzvetanka KARANOV, Jovial Bodenan BANGA et Alban VIDELOUP</a:t>
            </a:r>
            <a:endParaRPr/>
          </a:p>
        </p:txBody>
      </p:sp>
      <p:sp>
        <p:nvSpPr>
          <p:cNvPr id="1186860424" name="TextBox 10"/>
          <p:cNvSpPr txBox="1"/>
          <p:nvPr/>
        </p:nvSpPr>
        <p:spPr bwMode="auto"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0" i="0">
                <a:solidFill>
                  <a:srgbClr val="64748B"/>
                </a:solidFill>
                <a:latin typeface="Calibri Light"/>
              </a:rPr>
              <a:t>Conservatoire national des arts et métiers  ·  Mai 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7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916973" name="Oval 1"/>
          <p:cNvSpPr/>
          <p:nvPr/>
        </p:nvSpPr>
        <p:spPr bwMode="auto">
          <a:xfrm>
            <a:off x="-4572000" y="2286000"/>
            <a:ext cx="9144000" cy="9144000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7517393" name="Rectangle 2"/>
          <p:cNvSpPr/>
          <p:nvPr/>
        </p:nvSpPr>
        <p:spPr bwMode="auto">
          <a:xfrm>
            <a:off x="292608" y="731520"/>
            <a:ext cx="54864" cy="594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3281130" name="TextBox 3"/>
          <p:cNvSpPr txBox="1"/>
          <p:nvPr/>
        </p:nvSpPr>
        <p:spPr bwMode="auto">
          <a:xfrm>
            <a:off x="502920" y="73152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800" b="1" i="0">
                <a:solidFill>
                  <a:srgbClr val="FFFFFF"/>
                </a:solidFill>
                <a:latin typeface="Calibri Light"/>
              </a:rPr>
              <a:t>Le retour de l'« appendice de la machine »</a:t>
            </a:r>
            <a:endParaRPr/>
          </a:p>
        </p:txBody>
      </p:sp>
      <p:sp>
        <p:nvSpPr>
          <p:cNvPr id="803299753" name="Rectangle 4"/>
          <p:cNvSpPr/>
          <p:nvPr/>
        </p:nvSpPr>
        <p:spPr bwMode="auto">
          <a:xfrm>
            <a:off x="0" y="6578600"/>
            <a:ext cx="12188952" cy="1270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6953048" name="TextBox 5"/>
          <p:cNvSpPr txBox="1"/>
          <p:nvPr/>
        </p:nvSpPr>
        <p:spPr bwMode="auto">
          <a:xfrm>
            <a:off x="320040" y="6604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ETE101  ·  CNAM  ·  Tzvetanka KARANOV, Jovial Bodenan BANGA et Alban VIDELOUP  ·  2026</a:t>
            </a:r>
            <a:endParaRPr/>
          </a:p>
        </p:txBody>
      </p:sp>
      <p:sp>
        <p:nvSpPr>
          <p:cNvPr id="1028028911" name="TextBox 6"/>
          <p:cNvSpPr txBox="1"/>
          <p:nvPr/>
        </p:nvSpPr>
        <p:spPr bwMode="auto">
          <a:xfrm>
            <a:off x="8988552" y="6604000"/>
            <a:ext cx="3017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Numérique &amp; Néo-taylorisme</a:t>
            </a:r>
            <a:endParaRPr/>
          </a:p>
        </p:txBody>
      </p:sp>
      <p:sp>
        <p:nvSpPr>
          <p:cNvPr id="1687035621" name="Rounded Rectangle 7"/>
          <p:cNvSpPr/>
          <p:nvPr/>
        </p:nvSpPr>
        <p:spPr bwMode="auto">
          <a:xfrm>
            <a:off x="292608" y="1508759"/>
            <a:ext cx="5650992" cy="4709160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270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6225822" name="Rounded Rectangle 8"/>
          <p:cNvSpPr/>
          <p:nvPr/>
        </p:nvSpPr>
        <p:spPr bwMode="auto">
          <a:xfrm>
            <a:off x="292608" y="1508759"/>
            <a:ext cx="5650992" cy="50800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415463" name="TextBox 9"/>
          <p:cNvSpPr txBox="1"/>
          <p:nvPr/>
        </p:nvSpPr>
        <p:spPr bwMode="auto">
          <a:xfrm>
            <a:off x="457200" y="1636776"/>
            <a:ext cx="5321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4ADE80"/>
                </a:solidFill>
                <a:latin typeface="Calibri"/>
              </a:rPr>
              <a:t>Contexte &amp; Chiffres clés</a:t>
            </a:r>
            <a:endParaRPr/>
          </a:p>
        </p:txBody>
      </p:sp>
      <p:sp>
        <p:nvSpPr>
          <p:cNvPr id="296083894" name="TextBox 10"/>
          <p:cNvSpPr txBox="1"/>
          <p:nvPr/>
        </p:nvSpPr>
        <p:spPr bwMode="auto">
          <a:xfrm>
            <a:off x="457200" y="2039112"/>
            <a:ext cx="5321808" cy="405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● 780 000 ouvriers logistique + 400 000 chauffeurs-livreurs (INSEE, 2019)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● 73 % des entreprises du CAC40 utilisent des outils algorithmiques RH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● Le e-commerce impose le juste-à-temps : délais de 24h devenus la norme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Frederick W. Taylor (1911) — « One Best Way »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Rationalisation scientifique, séparation conception / exécution,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chronométrage des gestes. Le numérique en est l'héritier technologique.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4 scénarios (Hirsch-Kreinsen, 2016) :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  1. Non-impact  2. Automatisation totale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  3. Montée en compétences  4. Taylorisme numérique ← notre cas</a:t>
            </a:r>
            <a:endParaRPr/>
          </a:p>
        </p:txBody>
      </p:sp>
      <p:sp>
        <p:nvSpPr>
          <p:cNvPr id="2111821360" name="Rounded Rectangle 11"/>
          <p:cNvSpPr/>
          <p:nvPr/>
        </p:nvSpPr>
        <p:spPr bwMode="auto">
          <a:xfrm>
            <a:off x="6236208" y="1508759"/>
            <a:ext cx="5650992" cy="4709160"/>
          </a:xfrm>
          <a:prstGeom prst="roundRect">
            <a:avLst>
              <a:gd name="adj" fmla="val 16667"/>
            </a:avLst>
          </a:prstGeom>
          <a:solidFill>
            <a:srgbClr val="1A2D47"/>
          </a:solidFill>
          <a:ln w="1270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5128512" name="Rounded Rectangle 12"/>
          <p:cNvSpPr/>
          <p:nvPr/>
        </p:nvSpPr>
        <p:spPr bwMode="auto">
          <a:xfrm>
            <a:off x="6236208" y="1508759"/>
            <a:ext cx="5650992" cy="5080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3118193" name="TextBox 13"/>
          <p:cNvSpPr txBox="1"/>
          <p:nvPr/>
        </p:nvSpPr>
        <p:spPr bwMode="auto">
          <a:xfrm>
            <a:off x="6400800" y="1636776"/>
            <a:ext cx="5321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38BDF8"/>
                </a:solidFill>
                <a:latin typeface="Calibri"/>
              </a:rPr>
              <a:t>Définition : néo-taylorisme numérique</a:t>
            </a:r>
            <a:endParaRPr/>
          </a:p>
        </p:txBody>
      </p:sp>
      <p:sp>
        <p:nvSpPr>
          <p:cNvPr id="1303811009" name="TextBox 14"/>
          <p:cNvSpPr txBox="1"/>
          <p:nvPr/>
        </p:nvSpPr>
        <p:spPr bwMode="auto">
          <a:xfrm>
            <a:off x="6400800" y="2039112"/>
            <a:ext cx="5321808" cy="405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 numérique permet une optimisation des principes de Taylor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à un niveau autrefois inatteignable :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● Prescription algorithmique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  L'algorithme remplace le contremaître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● Surveillance panoptique en temps réel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  KPI, capteurs, logs — visibilité totale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● Hyper-flexibilité de la main-d'œuvre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  Intérim, plateformes, interchangeabilité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Marx : le travailleur réduit à être</a:t>
            </a:r>
            <a:br>
              <a:rPr sz="1250">
                <a:solidFill>
                  <a:srgbClr val="CBD5E1"/>
                </a:solidFill>
                <a:latin typeface="Calibri"/>
              </a:rPr>
            </a:br>
            <a:r>
              <a:rPr sz="1250">
                <a:solidFill>
                  <a:srgbClr val="CBD5E1"/>
                </a:solidFill>
                <a:latin typeface="Calibri"/>
              </a:rPr>
              <a:t>« l'appendice de la machine »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7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137538" name="Oval 1"/>
          <p:cNvSpPr/>
          <p:nvPr/>
        </p:nvSpPr>
        <p:spPr bwMode="auto">
          <a:xfrm>
            <a:off x="-3657600" y="3200400"/>
            <a:ext cx="7315200" cy="7315200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397979" name="Rectangle 2"/>
          <p:cNvSpPr/>
          <p:nvPr/>
        </p:nvSpPr>
        <p:spPr bwMode="auto">
          <a:xfrm>
            <a:off x="292608" y="731520"/>
            <a:ext cx="54864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5100206" name="TextBox 3"/>
          <p:cNvSpPr txBox="1"/>
          <p:nvPr/>
        </p:nvSpPr>
        <p:spPr bwMode="auto">
          <a:xfrm>
            <a:off x="5029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 Light"/>
              </a:rPr>
              <a:t>Reformulation  &amp;  Problématique</a:t>
            </a:r>
            <a:endParaRPr/>
          </a:p>
        </p:txBody>
      </p:sp>
      <p:sp>
        <p:nvSpPr>
          <p:cNvPr id="1477185312" name="Rectangle 4"/>
          <p:cNvSpPr/>
          <p:nvPr/>
        </p:nvSpPr>
        <p:spPr bwMode="auto">
          <a:xfrm>
            <a:off x="0" y="6578600"/>
            <a:ext cx="12188952" cy="1270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72629417" name="TextBox 5"/>
          <p:cNvSpPr txBox="1"/>
          <p:nvPr/>
        </p:nvSpPr>
        <p:spPr bwMode="auto">
          <a:xfrm>
            <a:off x="320040" y="6604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ETE101  ·  CNAM  ·  Tzvetanka KARANOV, Jovial Bodenan BANGA et Alban VIDELOUP  ·  2026</a:t>
            </a:r>
            <a:endParaRPr/>
          </a:p>
        </p:txBody>
      </p:sp>
      <p:sp>
        <p:nvSpPr>
          <p:cNvPr id="979454251" name="TextBox 6"/>
          <p:cNvSpPr txBox="1"/>
          <p:nvPr/>
        </p:nvSpPr>
        <p:spPr bwMode="auto">
          <a:xfrm>
            <a:off x="8988552" y="6604000"/>
            <a:ext cx="3017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Numérique &amp; Néo-taylorisme</a:t>
            </a:r>
            <a:endParaRPr/>
          </a:p>
        </p:txBody>
      </p:sp>
      <p:sp>
        <p:nvSpPr>
          <p:cNvPr id="2096682674" name="Rounded Rectangle 7"/>
          <p:cNvSpPr/>
          <p:nvPr/>
        </p:nvSpPr>
        <p:spPr bwMode="auto">
          <a:xfrm>
            <a:off x="292608" y="1463040"/>
            <a:ext cx="11612880" cy="1188720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905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1631864" name="Rectangle 8"/>
          <p:cNvSpPr/>
          <p:nvPr/>
        </p:nvSpPr>
        <p:spPr bwMode="auto">
          <a:xfrm>
            <a:off x="292608" y="1463040"/>
            <a:ext cx="64008" cy="11887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7143035" name="TextBox 9"/>
          <p:cNvSpPr txBox="1"/>
          <p:nvPr/>
        </p:nvSpPr>
        <p:spPr bwMode="auto">
          <a:xfrm>
            <a:off x="502920" y="15087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64748B"/>
                </a:solidFill>
                <a:latin typeface="Calibri Light"/>
              </a:rPr>
              <a:t>REFORMULATION</a:t>
            </a:r>
            <a:endParaRPr/>
          </a:p>
        </p:txBody>
      </p:sp>
      <p:sp>
        <p:nvSpPr>
          <p:cNvPr id="1819376466" name="TextBox 10"/>
          <p:cNvSpPr txBox="1"/>
          <p:nvPr/>
        </p:nvSpPr>
        <p:spPr bwMode="auto">
          <a:xfrm>
            <a:off x="502920" y="1828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0" i="0">
                <a:solidFill>
                  <a:srgbClr val="CBD5E1"/>
                </a:solidFill>
                <a:latin typeface="Calibri Light"/>
              </a:rPr>
              <a:t>Comment les technologies numériques intensifient-elles le contrôle sur le travail — au point de menacer l'autonomie, la santé et le sens — des ouvriers aux cadres ?</a:t>
            </a:r>
            <a:endParaRPr/>
          </a:p>
        </p:txBody>
      </p:sp>
      <p:sp>
        <p:nvSpPr>
          <p:cNvPr id="182944344" name="Rounded Rectangle 11"/>
          <p:cNvSpPr/>
          <p:nvPr/>
        </p:nvSpPr>
        <p:spPr bwMode="auto">
          <a:xfrm>
            <a:off x="292608" y="2834640"/>
            <a:ext cx="11612880" cy="1417320"/>
          </a:xfrm>
          <a:prstGeom prst="roundRect">
            <a:avLst>
              <a:gd name="adj" fmla="val 16667"/>
            </a:avLst>
          </a:prstGeom>
          <a:solidFill>
            <a:srgbClr val="C10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7767243" name="TextBox 12"/>
          <p:cNvSpPr txBox="1"/>
          <p:nvPr/>
        </p:nvSpPr>
        <p:spPr bwMode="auto">
          <a:xfrm>
            <a:off x="50292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FFFFFF"/>
                </a:solidFill>
                <a:latin typeface="Calibri Light"/>
              </a:rPr>
              <a:t>PROBLÉMATIQUE</a:t>
            </a:r>
            <a:endParaRPr/>
          </a:p>
        </p:txBody>
      </p:sp>
      <p:sp>
        <p:nvSpPr>
          <p:cNvPr id="1833734336" name="TextBox 13"/>
          <p:cNvSpPr txBox="1"/>
          <p:nvPr/>
        </p:nvSpPr>
        <p:spPr bwMode="auto">
          <a:xfrm>
            <a:off x="502920" y="3200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FFFFFF"/>
                </a:solidFill>
                <a:latin typeface="Calibri Light"/>
              </a:rPr>
              <a:t>Dans quelle mesure la numérisation des organisations, en durcissant la séparation entre conception et exécution, menace-t-elle l'autonomie, la santé et le sens du travail — du magasinier au cadre supérieur ?</a:t>
            </a:r>
            <a:endParaRPr/>
          </a:p>
        </p:txBody>
      </p:sp>
      <p:sp>
        <p:nvSpPr>
          <p:cNvPr id="500322547" name="Rounded Rectangle 14"/>
          <p:cNvSpPr/>
          <p:nvPr/>
        </p:nvSpPr>
        <p:spPr bwMode="auto">
          <a:xfrm>
            <a:off x="292608" y="4434840"/>
            <a:ext cx="11612880" cy="1783080"/>
          </a:xfrm>
          <a:prstGeom prst="roundRect">
            <a:avLst>
              <a:gd name="adj" fmla="val 16667"/>
            </a:avLst>
          </a:prstGeom>
          <a:solidFill>
            <a:srgbClr val="1A2D4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0842710" name="Rectangle 15"/>
          <p:cNvSpPr/>
          <p:nvPr/>
        </p:nvSpPr>
        <p:spPr bwMode="auto">
          <a:xfrm>
            <a:off x="292608" y="4434840"/>
            <a:ext cx="64008" cy="1783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1617708" name="TextBox 16"/>
          <p:cNvSpPr txBox="1"/>
          <p:nvPr/>
        </p:nvSpPr>
        <p:spPr bwMode="auto">
          <a:xfrm>
            <a:off x="502920" y="4480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38BDF8"/>
                </a:solidFill>
                <a:latin typeface="Calibri Light"/>
              </a:rPr>
              <a:t>IDÉE MAÎTRESSE</a:t>
            </a:r>
            <a:endParaRPr/>
          </a:p>
        </p:txBody>
      </p:sp>
      <p:sp>
        <p:nvSpPr>
          <p:cNvPr id="1624670977" name="TextBox 17"/>
          <p:cNvSpPr txBox="1"/>
          <p:nvPr/>
        </p:nvSpPr>
        <p:spPr bwMode="auto">
          <a:xfrm>
            <a:off x="502920" y="4828032"/>
            <a:ext cx="11247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0" i="1">
                <a:solidFill>
                  <a:srgbClr val="CBD5E1"/>
                </a:solidFill>
                <a:latin typeface="Calibri Light"/>
              </a:rPr>
              <a:t>Le numérique n'a pas libéré le travailleur : il a créé un néo-taylorisme camouflé (invisible), plus précis et plus étendu que l'original — touchant désormais aussi bien les ouvriers de l'entrepôt que les livreurs des plateformes et les cadres du tertiaire.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7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814012" name="Oval 1"/>
          <p:cNvSpPr/>
          <p:nvPr/>
        </p:nvSpPr>
        <p:spPr bwMode="auto">
          <a:xfrm>
            <a:off x="-3657600" y="3200400"/>
            <a:ext cx="7315200" cy="7315200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4160265" name="TextBox 2"/>
          <p:cNvSpPr txBox="1"/>
          <p:nvPr/>
        </p:nvSpPr>
        <p:spPr bwMode="auto">
          <a:xfrm>
            <a:off x="3657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200" b="1" i="0">
                <a:solidFill>
                  <a:srgbClr val="FFFFFF"/>
                </a:solidFill>
                <a:latin typeface="Calibri Light"/>
              </a:rPr>
              <a:t>Plan de l'exposé</a:t>
            </a:r>
            <a:endParaRPr/>
          </a:p>
        </p:txBody>
      </p:sp>
      <p:sp>
        <p:nvSpPr>
          <p:cNvPr id="1230254380" name="Rectangle 3"/>
          <p:cNvSpPr/>
          <p:nvPr/>
        </p:nvSpPr>
        <p:spPr bwMode="auto">
          <a:xfrm>
            <a:off x="0" y="6578600"/>
            <a:ext cx="12188952" cy="1270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8855048" name="TextBox 4"/>
          <p:cNvSpPr txBox="1"/>
          <p:nvPr/>
        </p:nvSpPr>
        <p:spPr bwMode="auto">
          <a:xfrm>
            <a:off x="320040" y="6604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ETE101  ·  CNAM  ·  Tzvetanka KARANOV, Jovial Bodenan BANGA et Alban VIDELOUP  ·  2026</a:t>
            </a:r>
            <a:endParaRPr/>
          </a:p>
        </p:txBody>
      </p:sp>
      <p:sp>
        <p:nvSpPr>
          <p:cNvPr id="2064546492" name="TextBox 5"/>
          <p:cNvSpPr txBox="1"/>
          <p:nvPr/>
        </p:nvSpPr>
        <p:spPr bwMode="auto">
          <a:xfrm>
            <a:off x="8988552" y="6604000"/>
            <a:ext cx="3017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Numérique &amp; Néo-taylorisme</a:t>
            </a:r>
            <a:endParaRPr/>
          </a:p>
        </p:txBody>
      </p:sp>
      <p:sp>
        <p:nvSpPr>
          <p:cNvPr id="908160764" name="Rounded Rectangle 6"/>
          <p:cNvSpPr/>
          <p:nvPr/>
        </p:nvSpPr>
        <p:spPr bwMode="auto">
          <a:xfrm>
            <a:off x="201168" y="868680"/>
            <a:ext cx="3886200" cy="5687568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905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6469779" name="Rectangle 7"/>
          <p:cNvSpPr/>
          <p:nvPr/>
        </p:nvSpPr>
        <p:spPr bwMode="auto">
          <a:xfrm>
            <a:off x="201168" y="868680"/>
            <a:ext cx="3886200" cy="635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2176282" name="TextBox 8"/>
          <p:cNvSpPr txBox="1"/>
          <p:nvPr/>
        </p:nvSpPr>
        <p:spPr bwMode="auto">
          <a:xfrm>
            <a:off x="365760" y="9601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200" b="1" i="0">
                <a:solidFill>
                  <a:srgbClr val="C1002A"/>
                </a:solidFill>
                <a:latin typeface="Calibri"/>
              </a:rPr>
              <a:t>I</a:t>
            </a:r>
            <a:endParaRPr/>
          </a:p>
        </p:txBody>
      </p:sp>
      <p:sp>
        <p:nvSpPr>
          <p:cNvPr id="1774266705" name="TextBox 9"/>
          <p:cNvSpPr txBox="1"/>
          <p:nvPr/>
        </p:nvSpPr>
        <p:spPr bwMode="auto">
          <a:xfrm>
            <a:off x="365760" y="1600200"/>
            <a:ext cx="355701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1" i="0">
                <a:solidFill>
                  <a:srgbClr val="FFFFFF"/>
                </a:solidFill>
                <a:latin typeface="Calibri"/>
              </a:rPr>
              <a:t>L'usine à colis</a:t>
            </a:r>
            <a:endParaRPr/>
          </a:p>
        </p:txBody>
      </p:sp>
      <p:sp>
        <p:nvSpPr>
          <p:cNvPr id="252751961" name="TextBox 10"/>
          <p:cNvSpPr txBox="1"/>
          <p:nvPr/>
        </p:nvSpPr>
        <p:spPr bwMode="auto">
          <a:xfrm>
            <a:off x="365760" y="2148840"/>
            <a:ext cx="3557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1">
                <a:solidFill>
                  <a:srgbClr val="64748B"/>
                </a:solidFill>
                <a:latin typeface="Calibri"/>
              </a:rPr>
              <a:t>Le taylorisme numérique dans les entrepôts logistiques</a:t>
            </a:r>
            <a:endParaRPr/>
          </a:p>
        </p:txBody>
      </p:sp>
      <p:sp>
        <p:nvSpPr>
          <p:cNvPr id="69418805" name="Rectangle 11"/>
          <p:cNvSpPr/>
          <p:nvPr/>
        </p:nvSpPr>
        <p:spPr bwMode="auto">
          <a:xfrm>
            <a:off x="365760" y="2743200"/>
            <a:ext cx="3557016" cy="1905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6422436" name="TextBox 12"/>
          <p:cNvSpPr txBox="1"/>
          <p:nvPr/>
        </p:nvSpPr>
        <p:spPr bwMode="auto">
          <a:xfrm>
            <a:off x="365760" y="2834640"/>
            <a:ext cx="355701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→  Voice-picking &amp; prescription algorithmique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→  Surveillance panoptique &amp; KPI en temps réel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→  Déqualification, précarisation, TMS</a:t>
            </a:r>
            <a:endParaRPr/>
          </a:p>
        </p:txBody>
      </p:sp>
      <p:sp>
        <p:nvSpPr>
          <p:cNvPr id="1572160754" name="TextBox 13"/>
          <p:cNvSpPr txBox="1"/>
          <p:nvPr/>
        </p:nvSpPr>
        <p:spPr bwMode="auto">
          <a:xfrm>
            <a:off x="365760" y="5047488"/>
            <a:ext cx="3557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1">
                <a:solidFill>
                  <a:srgbClr val="64748B"/>
                </a:solidFill>
                <a:latin typeface="Calibri"/>
              </a:rPr>
              <a:t>Gautié &amp; Perez (LIEPP/Sciences Po)</a:t>
            </a:r>
            <a:br>
              <a:rPr sz="1000" b="0" i="1">
                <a:solidFill>
                  <a:srgbClr val="64748B"/>
                </a:solidFill>
                <a:latin typeface="Calibri"/>
              </a:rPr>
            </a:br>
            <a:r>
              <a:rPr sz="1000" b="0" i="1">
                <a:solidFill>
                  <a:srgbClr val="64748B"/>
                </a:solidFill>
                <a:latin typeface="Calibri"/>
              </a:rPr>
              <a:t>Barbier, Cuny, Gaborieau (2021)</a:t>
            </a:r>
            <a:endParaRPr/>
          </a:p>
        </p:txBody>
      </p:sp>
      <p:sp>
        <p:nvSpPr>
          <p:cNvPr id="408654342" name="Rounded Rectangle 14"/>
          <p:cNvSpPr/>
          <p:nvPr/>
        </p:nvSpPr>
        <p:spPr bwMode="auto">
          <a:xfrm>
            <a:off x="4197096" y="868680"/>
            <a:ext cx="3886200" cy="5687568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905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7557662" name="Rectangle 15"/>
          <p:cNvSpPr/>
          <p:nvPr/>
        </p:nvSpPr>
        <p:spPr bwMode="auto">
          <a:xfrm>
            <a:off x="4197096" y="868680"/>
            <a:ext cx="3886200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21699881" name="TextBox 16"/>
          <p:cNvSpPr txBox="1"/>
          <p:nvPr/>
        </p:nvSpPr>
        <p:spPr bwMode="auto">
          <a:xfrm>
            <a:off x="4361688" y="9601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200" b="1" i="0">
                <a:solidFill>
                  <a:srgbClr val="38BDF8"/>
                </a:solidFill>
                <a:latin typeface="Calibri"/>
              </a:rPr>
              <a:t>II</a:t>
            </a:r>
            <a:endParaRPr/>
          </a:p>
        </p:txBody>
      </p:sp>
      <p:sp>
        <p:nvSpPr>
          <p:cNvPr id="1384676328" name="TextBox 17"/>
          <p:cNvSpPr txBox="1"/>
          <p:nvPr/>
        </p:nvSpPr>
        <p:spPr bwMode="auto">
          <a:xfrm>
            <a:off x="4361688" y="1600200"/>
            <a:ext cx="3557376" cy="33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1" i="0">
                <a:solidFill>
                  <a:srgbClr val="FFFFFF"/>
                </a:solidFill>
                <a:latin typeface="Calibri"/>
              </a:rPr>
              <a:t>La subordination camouflé</a:t>
            </a:r>
            <a:r>
              <a:rPr lang="fr-FR" sz="1600" b="1" i="0">
                <a:solidFill>
                  <a:srgbClr val="FFFFFF"/>
                </a:solidFill>
                <a:latin typeface="Calibri"/>
              </a:rPr>
              <a:t>e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 (invisible)</a:t>
            </a:r>
            <a:endParaRPr/>
          </a:p>
        </p:txBody>
      </p:sp>
      <p:sp>
        <p:nvSpPr>
          <p:cNvPr id="155899623" name="TextBox 18"/>
          <p:cNvSpPr txBox="1"/>
          <p:nvPr/>
        </p:nvSpPr>
        <p:spPr bwMode="auto">
          <a:xfrm>
            <a:off x="4361688" y="2148840"/>
            <a:ext cx="3557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1">
                <a:solidFill>
                  <a:srgbClr val="64748B"/>
                </a:solidFill>
                <a:latin typeface="Calibri"/>
              </a:rPr>
              <a:t>Uber, Deliveroo et le faux travail indépendant</a:t>
            </a:r>
            <a:endParaRPr/>
          </a:p>
        </p:txBody>
      </p:sp>
      <p:sp>
        <p:nvSpPr>
          <p:cNvPr id="2135633978" name="Rectangle 19"/>
          <p:cNvSpPr/>
          <p:nvPr/>
        </p:nvSpPr>
        <p:spPr bwMode="auto">
          <a:xfrm>
            <a:off x="4361688" y="2743200"/>
            <a:ext cx="3557016" cy="1905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5684811" name="TextBox 20"/>
          <p:cNvSpPr txBox="1"/>
          <p:nvPr/>
        </p:nvSpPr>
        <p:spPr bwMode="auto">
          <a:xfrm>
            <a:off x="4361688" y="2834640"/>
            <a:ext cx="355701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→  Du salariat à la dépendance algorithmique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→  Précarité exacerbée : 3€/h, 63h/semaine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→  La déconnexion comme licenciement sans recours</a:t>
            </a:r>
            <a:endParaRPr/>
          </a:p>
        </p:txBody>
      </p:sp>
      <p:sp>
        <p:nvSpPr>
          <p:cNvPr id="1888426262" name="TextBox 21"/>
          <p:cNvSpPr txBox="1"/>
          <p:nvPr/>
        </p:nvSpPr>
        <p:spPr bwMode="auto">
          <a:xfrm>
            <a:off x="4361688" y="5047488"/>
            <a:ext cx="3557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1">
                <a:solidFill>
                  <a:srgbClr val="64748B"/>
                </a:solidFill>
                <a:latin typeface="Calibri"/>
              </a:rPr>
              <a:t>Public Sénat (2022)</a:t>
            </a:r>
            <a:br>
              <a:rPr sz="1000" b="0" i="1">
                <a:solidFill>
                  <a:srgbClr val="64748B"/>
                </a:solidFill>
                <a:latin typeface="Calibri"/>
              </a:rPr>
            </a:br>
            <a:r>
              <a:rPr sz="1000" b="0" i="1">
                <a:solidFill>
                  <a:srgbClr val="64748B"/>
                </a:solidFill>
                <a:latin typeface="Calibri"/>
              </a:rPr>
              <a:t>Directive européenne 2024</a:t>
            </a:r>
            <a:endParaRPr/>
          </a:p>
        </p:txBody>
      </p:sp>
      <p:sp>
        <p:nvSpPr>
          <p:cNvPr id="1815778589" name="Rounded Rectangle 22"/>
          <p:cNvSpPr/>
          <p:nvPr/>
        </p:nvSpPr>
        <p:spPr bwMode="auto">
          <a:xfrm>
            <a:off x="8193024" y="868680"/>
            <a:ext cx="3886200" cy="5687568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905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6995309" name="Rectangle 23"/>
          <p:cNvSpPr/>
          <p:nvPr/>
        </p:nvSpPr>
        <p:spPr bwMode="auto">
          <a:xfrm>
            <a:off x="8193024" y="868680"/>
            <a:ext cx="3886200" cy="635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7164867" name="TextBox 24"/>
          <p:cNvSpPr txBox="1"/>
          <p:nvPr/>
        </p:nvSpPr>
        <p:spPr bwMode="auto">
          <a:xfrm>
            <a:off x="8357616" y="9601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200" b="1" i="0">
                <a:solidFill>
                  <a:srgbClr val="4ADE80"/>
                </a:solidFill>
                <a:latin typeface="Calibri"/>
              </a:rPr>
              <a:t>III</a:t>
            </a:r>
            <a:endParaRPr/>
          </a:p>
        </p:txBody>
      </p:sp>
      <p:sp>
        <p:nvSpPr>
          <p:cNvPr id="1885397941" name="TextBox 25"/>
          <p:cNvSpPr txBox="1"/>
          <p:nvPr/>
        </p:nvSpPr>
        <p:spPr bwMode="auto">
          <a:xfrm>
            <a:off x="8357616" y="1600200"/>
            <a:ext cx="355701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1" i="0">
                <a:solidFill>
                  <a:srgbClr val="FFFFFF"/>
                </a:solidFill>
                <a:latin typeface="Calibri"/>
              </a:rPr>
              <a:t>La dictature algorithmique</a:t>
            </a:r>
            <a:endParaRPr/>
          </a:p>
        </p:txBody>
      </p:sp>
      <p:sp>
        <p:nvSpPr>
          <p:cNvPr id="1799858042" name="TextBox 26"/>
          <p:cNvSpPr txBox="1"/>
          <p:nvPr/>
        </p:nvSpPr>
        <p:spPr bwMode="auto">
          <a:xfrm>
            <a:off x="8357616" y="2148840"/>
            <a:ext cx="35570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1">
                <a:solidFill>
                  <a:srgbClr val="64748B"/>
                </a:solidFill>
                <a:latin typeface="Calibri"/>
              </a:rPr>
              <a:t>Des cols bleus aux cadres — généralisation</a:t>
            </a:r>
            <a:endParaRPr/>
          </a:p>
        </p:txBody>
      </p:sp>
      <p:sp>
        <p:nvSpPr>
          <p:cNvPr id="1625581862" name="Rectangle 27"/>
          <p:cNvSpPr/>
          <p:nvPr/>
        </p:nvSpPr>
        <p:spPr bwMode="auto">
          <a:xfrm>
            <a:off x="8357616" y="2743200"/>
            <a:ext cx="3557016" cy="1905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6973049" name="TextBox 28"/>
          <p:cNvSpPr txBox="1"/>
          <p:nvPr/>
        </p:nvSpPr>
        <p:spPr bwMode="auto">
          <a:xfrm>
            <a:off x="8357616" y="2834640"/>
            <a:ext cx="3557016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→  Standardisation du travail intellectuel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→  Management par KPI &amp; perte de sens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→  Risques psychosociaux &amp; burn-out</a:t>
            </a:r>
            <a:endParaRPr/>
          </a:p>
        </p:txBody>
      </p:sp>
      <p:sp>
        <p:nvSpPr>
          <p:cNvPr id="566258231" name="TextBox 29"/>
          <p:cNvSpPr txBox="1"/>
          <p:nvPr/>
        </p:nvSpPr>
        <p:spPr bwMode="auto">
          <a:xfrm>
            <a:off x="8357616" y="5047488"/>
            <a:ext cx="3557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0" i="1">
                <a:solidFill>
                  <a:srgbClr val="64748B"/>
                </a:solidFill>
                <a:latin typeface="Calibri"/>
              </a:rPr>
              <a:t>Dujarier · Clot · Perez &amp; Coutrot</a:t>
            </a:r>
            <a:br>
              <a:rPr sz="1000" b="0" i="1">
                <a:solidFill>
                  <a:srgbClr val="64748B"/>
                </a:solidFill>
                <a:latin typeface="Calibri"/>
              </a:rPr>
            </a:br>
            <a:r>
              <a:rPr sz="1000" b="0" i="1">
                <a:solidFill>
                  <a:srgbClr val="64748B"/>
                </a:solidFill>
                <a:latin typeface="Calibri"/>
              </a:rPr>
              <a:t>Jeremy Rifkin (1995)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7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8824718" name="Oval 1"/>
          <p:cNvSpPr/>
          <p:nvPr/>
        </p:nvSpPr>
        <p:spPr bwMode="auto">
          <a:xfrm>
            <a:off x="-5486400" y="1371600"/>
            <a:ext cx="10972800" cy="10972800"/>
          </a:xfrm>
          <a:prstGeom prst="ellipse">
            <a:avLst/>
          </a:prstGeom>
          <a:solidFill>
            <a:srgbClr val="38BDF8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3872604" name="Oval 2"/>
          <p:cNvSpPr/>
          <p:nvPr/>
        </p:nvSpPr>
        <p:spPr bwMode="auto">
          <a:xfrm>
            <a:off x="-2286000" y="3200400"/>
            <a:ext cx="7315200" cy="7315200"/>
          </a:xfrm>
          <a:prstGeom prst="ellipse">
            <a:avLst/>
          </a:prstGeom>
          <a:solidFill>
            <a:srgbClr val="4ADE80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893253" name="Oval 3"/>
          <p:cNvSpPr/>
          <p:nvPr/>
        </p:nvSpPr>
        <p:spPr bwMode="auto">
          <a:xfrm>
            <a:off x="8531352" y="-3657600"/>
            <a:ext cx="7315200" cy="7315200"/>
          </a:xfrm>
          <a:prstGeom prst="ellipse">
            <a:avLst/>
          </a:prstGeom>
          <a:solidFill>
            <a:srgbClr val="38BDF8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078489" name="Rectangle 4"/>
          <p:cNvSpPr/>
          <p:nvPr/>
        </p:nvSpPr>
        <p:spPr bwMode="auto">
          <a:xfrm>
            <a:off x="5088636" y="2286000"/>
            <a:ext cx="201168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9943568" name="TextBox 5"/>
          <p:cNvSpPr txBox="1"/>
          <p:nvPr/>
        </p:nvSpPr>
        <p:spPr bwMode="auto">
          <a:xfrm>
            <a:off x="36576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0" i="0">
                <a:solidFill>
                  <a:srgbClr val="64748B"/>
                </a:solidFill>
                <a:latin typeface="Calibri"/>
              </a:rPr>
              <a:t>PARTIE  I</a:t>
            </a:r>
            <a:endParaRPr/>
          </a:p>
        </p:txBody>
      </p:sp>
      <p:sp>
        <p:nvSpPr>
          <p:cNvPr id="2057748446" name="TextBox 6"/>
          <p:cNvSpPr txBox="1"/>
          <p:nvPr/>
        </p:nvSpPr>
        <p:spPr bwMode="auto">
          <a:xfrm>
            <a:off x="365760" y="24688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4600" b="1" i="0">
                <a:solidFill>
                  <a:srgbClr val="4ADE80"/>
                </a:solidFill>
                <a:latin typeface="Calibri Light"/>
              </a:rPr>
              <a:t>L'usine à colis</a:t>
            </a:r>
            <a:endParaRPr/>
          </a:p>
        </p:txBody>
      </p:sp>
      <p:sp>
        <p:nvSpPr>
          <p:cNvPr id="1994190214" name="TextBox 7"/>
          <p:cNvSpPr txBox="1"/>
          <p:nvPr/>
        </p:nvSpPr>
        <p:spPr bwMode="auto">
          <a:xfrm>
            <a:off x="365760" y="374903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200" b="0" i="1">
                <a:solidFill>
                  <a:srgbClr val="CBD5E1"/>
                </a:solidFill>
                <a:latin typeface="Calibri Light"/>
              </a:rPr>
              <a:t>Le taylorisme numérique dans les entrepôts logistiques</a:t>
            </a:r>
            <a:endParaRPr/>
          </a:p>
        </p:txBody>
      </p:sp>
      <p:sp>
        <p:nvSpPr>
          <p:cNvPr id="1888649291" name="Rectangle 8"/>
          <p:cNvSpPr/>
          <p:nvPr/>
        </p:nvSpPr>
        <p:spPr bwMode="auto">
          <a:xfrm>
            <a:off x="4722876" y="4572000"/>
            <a:ext cx="2743200" cy="508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0110453" name="TextBox 9"/>
          <p:cNvSpPr txBox="1"/>
          <p:nvPr/>
        </p:nvSpPr>
        <p:spPr bwMode="auto">
          <a:xfrm>
            <a:off x="365760" y="4736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64748B"/>
                </a:solidFill>
                <a:latin typeface="Calibri Light"/>
              </a:rPr>
              <a:t>Gautié &amp; Perez, LIEPP / Sciences Po — Barbier, Cuny, Gaborieau (2021)</a:t>
            </a:r>
            <a:endParaRPr/>
          </a:p>
        </p:txBody>
      </p:sp>
      <p:sp>
        <p:nvSpPr>
          <p:cNvPr id="1737280863" name="Rectangle 10"/>
          <p:cNvSpPr/>
          <p:nvPr/>
        </p:nvSpPr>
        <p:spPr bwMode="auto">
          <a:xfrm>
            <a:off x="0" y="6578600"/>
            <a:ext cx="12188952" cy="1270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1568635" name="TextBox 11"/>
          <p:cNvSpPr txBox="1"/>
          <p:nvPr/>
        </p:nvSpPr>
        <p:spPr bwMode="auto">
          <a:xfrm>
            <a:off x="320040" y="6604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ETE101  ·  CNAM  ·  Tzvetanka KARANOV, Jovial Bodenan BANGA et Alban VIDELOUP  ·  2026</a:t>
            </a:r>
            <a:endParaRPr/>
          </a:p>
        </p:txBody>
      </p:sp>
      <p:sp>
        <p:nvSpPr>
          <p:cNvPr id="386916334" name="TextBox 12"/>
          <p:cNvSpPr txBox="1"/>
          <p:nvPr/>
        </p:nvSpPr>
        <p:spPr bwMode="auto">
          <a:xfrm>
            <a:off x="8988552" y="6604000"/>
            <a:ext cx="3017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Numérique &amp; Néo-taylorisme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7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511631" name="Oval 1"/>
          <p:cNvSpPr/>
          <p:nvPr/>
        </p:nvSpPr>
        <p:spPr bwMode="auto">
          <a:xfrm>
            <a:off x="-4114800" y="2743200"/>
            <a:ext cx="8229600" cy="8229600"/>
          </a:xfrm>
          <a:prstGeom prst="ellipse">
            <a:avLst/>
          </a:prstGeom>
          <a:solidFill>
            <a:srgbClr val="38BDF8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725562" name="Rectangle 2"/>
          <p:cNvSpPr/>
          <p:nvPr/>
        </p:nvSpPr>
        <p:spPr bwMode="auto">
          <a:xfrm>
            <a:off x="292608" y="685800"/>
            <a:ext cx="54864" cy="594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9478912" name="TextBox 3"/>
          <p:cNvSpPr txBox="1"/>
          <p:nvPr/>
        </p:nvSpPr>
        <p:spPr bwMode="auto">
          <a:xfrm>
            <a:off x="50292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64748B"/>
                </a:solidFill>
                <a:latin typeface="Calibri"/>
              </a:rPr>
              <a:t>Partie I  —  Idée directrice 1 / 3</a:t>
            </a:r>
            <a:endParaRPr/>
          </a:p>
        </p:txBody>
      </p:sp>
      <p:sp>
        <p:nvSpPr>
          <p:cNvPr id="380592712" name="TextBox 4"/>
          <p:cNvSpPr txBox="1"/>
          <p:nvPr/>
        </p:nvSpPr>
        <p:spPr bwMode="auto">
          <a:xfrm>
            <a:off x="502920" y="98755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 Light"/>
              </a:rPr>
              <a:t>La prescription algorithmique : l'ouvrier devenu oreille</a:t>
            </a:r>
            <a:endParaRPr/>
          </a:p>
        </p:txBody>
      </p:sp>
      <p:sp>
        <p:nvSpPr>
          <p:cNvPr id="267653949" name="Rounded Rectangle 5"/>
          <p:cNvSpPr/>
          <p:nvPr/>
        </p:nvSpPr>
        <p:spPr bwMode="auto">
          <a:xfrm>
            <a:off x="10771632" y="164592"/>
            <a:ext cx="1188720" cy="475488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03333365" name="TextBox 6"/>
          <p:cNvSpPr txBox="1"/>
          <p:nvPr/>
        </p:nvSpPr>
        <p:spPr bwMode="auto">
          <a:xfrm>
            <a:off x="10799064" y="182880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0D1727"/>
                </a:solidFill>
                <a:latin typeface="Calibri"/>
              </a:rPr>
              <a:t>I · 1</a:t>
            </a:r>
            <a:endParaRPr/>
          </a:p>
        </p:txBody>
      </p:sp>
      <p:sp>
        <p:nvSpPr>
          <p:cNvPr id="1809803597" name="Rectangle 7"/>
          <p:cNvSpPr/>
          <p:nvPr/>
        </p:nvSpPr>
        <p:spPr bwMode="auto">
          <a:xfrm>
            <a:off x="0" y="6578600"/>
            <a:ext cx="12188952" cy="1270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0928459" name="TextBox 8"/>
          <p:cNvSpPr txBox="1"/>
          <p:nvPr/>
        </p:nvSpPr>
        <p:spPr bwMode="auto">
          <a:xfrm>
            <a:off x="320040" y="6604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ETE101  ·  CNAM  ·  Tzvetanka KARANOV, Jovial Bodenan BANGA et Alban VIDELOUP  ·  2026</a:t>
            </a:r>
            <a:endParaRPr/>
          </a:p>
        </p:txBody>
      </p:sp>
      <p:sp>
        <p:nvSpPr>
          <p:cNvPr id="1851742844" name="TextBox 9"/>
          <p:cNvSpPr txBox="1"/>
          <p:nvPr/>
        </p:nvSpPr>
        <p:spPr bwMode="auto">
          <a:xfrm>
            <a:off x="8988552" y="6604000"/>
            <a:ext cx="3017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Numérique &amp; Néo-taylorisme</a:t>
            </a:r>
            <a:endParaRPr/>
          </a:p>
        </p:txBody>
      </p:sp>
      <p:sp>
        <p:nvSpPr>
          <p:cNvPr id="1729871962" name="Rounded Rectangle 10"/>
          <p:cNvSpPr/>
          <p:nvPr/>
        </p:nvSpPr>
        <p:spPr bwMode="auto">
          <a:xfrm>
            <a:off x="292608" y="1737360"/>
            <a:ext cx="5623560" cy="4434840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270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5427520" name="Rounded Rectangle 11"/>
          <p:cNvSpPr/>
          <p:nvPr/>
        </p:nvSpPr>
        <p:spPr bwMode="auto">
          <a:xfrm>
            <a:off x="292608" y="1737360"/>
            <a:ext cx="5623560" cy="50800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8863166" name="TextBox 12"/>
          <p:cNvSpPr txBox="1"/>
          <p:nvPr/>
        </p:nvSpPr>
        <p:spPr bwMode="auto">
          <a:xfrm>
            <a:off x="457200" y="1865376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4ADE80"/>
                </a:solidFill>
                <a:latin typeface="Calibri"/>
              </a:rPr>
              <a:t>3 arguments</a:t>
            </a:r>
            <a:endParaRPr/>
          </a:p>
        </p:txBody>
      </p:sp>
      <p:sp>
        <p:nvSpPr>
          <p:cNvPr id="1356609534" name="TextBox 13"/>
          <p:cNvSpPr txBox="1"/>
          <p:nvPr/>
        </p:nvSpPr>
        <p:spPr bwMode="auto">
          <a:xfrm>
            <a:off x="457200" y="2267712"/>
            <a:ext cx="5294376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① Le voice-picking efface le savoir-faire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L'algorithme (WMS) dicte le trajet, l'article, la cadence.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 préparateur n'a plus à penser — il obéit à une voix synthétique.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② Formation : de 2-3 semaines à 2-3 jours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La compétence est 'incorporée' dans le logiciel.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 travailleur devient interchangeable.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③ Séparation radicale conception / exécution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L'ingénieur conçoit les flux en bureau.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L'ouvrier exécute sans comprendre ni décider.</a:t>
            </a:r>
            <a:endParaRPr/>
          </a:p>
        </p:txBody>
      </p:sp>
      <p:sp>
        <p:nvSpPr>
          <p:cNvPr id="568207337" name="Rounded Rectangle 14"/>
          <p:cNvSpPr/>
          <p:nvPr/>
        </p:nvSpPr>
        <p:spPr bwMode="auto">
          <a:xfrm>
            <a:off x="6263640" y="1737360"/>
            <a:ext cx="5623560" cy="4434840"/>
          </a:xfrm>
          <a:prstGeom prst="roundRect">
            <a:avLst>
              <a:gd name="adj" fmla="val 16667"/>
            </a:avLst>
          </a:prstGeom>
          <a:solidFill>
            <a:srgbClr val="1A2D47"/>
          </a:solidFill>
          <a:ln w="1270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18336061" name="Rounded Rectangle 15"/>
          <p:cNvSpPr/>
          <p:nvPr/>
        </p:nvSpPr>
        <p:spPr bwMode="auto">
          <a:xfrm>
            <a:off x="6263640" y="1737360"/>
            <a:ext cx="5623560" cy="5080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782242" name="TextBox 16"/>
          <p:cNvSpPr txBox="1"/>
          <p:nvPr/>
        </p:nvSpPr>
        <p:spPr bwMode="auto">
          <a:xfrm>
            <a:off x="6428232" y="1865376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38BDF8"/>
                </a:solidFill>
                <a:latin typeface="Calibri"/>
              </a:rPr>
              <a:t>3 exemples</a:t>
            </a:r>
            <a:endParaRPr/>
          </a:p>
        </p:txBody>
      </p:sp>
      <p:sp>
        <p:nvSpPr>
          <p:cNvPr id="562098405" name="TextBox 17"/>
          <p:cNvSpPr txBox="1"/>
          <p:nvPr/>
        </p:nvSpPr>
        <p:spPr bwMode="auto">
          <a:xfrm>
            <a:off x="6428232" y="2267712"/>
            <a:ext cx="5294376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① Gautié &amp; Perez (LIEPP, 2024)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« Branché le matin, débranché le soir, c'est tout. »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— préparateur interrogé. Perte totale d'identité prof.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② Gaborieau (2012, 2016) — la 'belle palette'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Avant le voice-picking : fierté de la palette optimisée.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Cette expertise disparaît avec la commande vocale.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③ Amazon Fulfillment Centers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Time off Task (TOT) : toute pause non autorisée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déclenche une alerte et peut mener au licenciement.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7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141722" name="Oval 1"/>
          <p:cNvSpPr/>
          <p:nvPr/>
        </p:nvSpPr>
        <p:spPr bwMode="auto">
          <a:xfrm>
            <a:off x="-4114800" y="2743200"/>
            <a:ext cx="8229600" cy="8229600"/>
          </a:xfrm>
          <a:prstGeom prst="ellipse">
            <a:avLst/>
          </a:prstGeom>
          <a:solidFill>
            <a:srgbClr val="38BDF8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9525092" name="Rectangle 2"/>
          <p:cNvSpPr/>
          <p:nvPr/>
        </p:nvSpPr>
        <p:spPr bwMode="auto">
          <a:xfrm>
            <a:off x="292608" y="685800"/>
            <a:ext cx="54864" cy="594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1700520" name="TextBox 3"/>
          <p:cNvSpPr txBox="1"/>
          <p:nvPr/>
        </p:nvSpPr>
        <p:spPr bwMode="auto">
          <a:xfrm>
            <a:off x="50292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64748B"/>
                </a:solidFill>
                <a:latin typeface="Calibri"/>
              </a:rPr>
              <a:t>Partie I  —  Idée directrice 2 / 3</a:t>
            </a:r>
            <a:endParaRPr/>
          </a:p>
        </p:txBody>
      </p:sp>
      <p:sp>
        <p:nvSpPr>
          <p:cNvPr id="2104613866" name="TextBox 4"/>
          <p:cNvSpPr txBox="1"/>
          <p:nvPr/>
        </p:nvSpPr>
        <p:spPr bwMode="auto">
          <a:xfrm>
            <a:off x="502920" y="98755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 Light"/>
              </a:rPr>
              <a:t>La surveillance panoptique : le KPI comme contremaître numérique</a:t>
            </a:r>
            <a:endParaRPr/>
          </a:p>
        </p:txBody>
      </p:sp>
      <p:sp>
        <p:nvSpPr>
          <p:cNvPr id="1969570561" name="Rounded Rectangle 5"/>
          <p:cNvSpPr/>
          <p:nvPr/>
        </p:nvSpPr>
        <p:spPr bwMode="auto">
          <a:xfrm>
            <a:off x="10771632" y="164592"/>
            <a:ext cx="1188720" cy="475488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9530241" name="TextBox 6"/>
          <p:cNvSpPr txBox="1"/>
          <p:nvPr/>
        </p:nvSpPr>
        <p:spPr bwMode="auto">
          <a:xfrm>
            <a:off x="10799064" y="182880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0D1727"/>
                </a:solidFill>
                <a:latin typeface="Calibri"/>
              </a:rPr>
              <a:t>I · 2</a:t>
            </a:r>
            <a:endParaRPr/>
          </a:p>
        </p:txBody>
      </p:sp>
      <p:sp>
        <p:nvSpPr>
          <p:cNvPr id="488578311" name="Rectangle 7"/>
          <p:cNvSpPr/>
          <p:nvPr/>
        </p:nvSpPr>
        <p:spPr bwMode="auto">
          <a:xfrm>
            <a:off x="0" y="6578600"/>
            <a:ext cx="12188952" cy="1270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0669700" name="TextBox 8"/>
          <p:cNvSpPr txBox="1"/>
          <p:nvPr/>
        </p:nvSpPr>
        <p:spPr bwMode="auto">
          <a:xfrm>
            <a:off x="320040" y="6604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ETE101  ·  CNAM  ·  Tzvetanka KARANOV, Jovial Bodenan BANGA et Alban VIDELOUP  ·  2026</a:t>
            </a:r>
            <a:endParaRPr/>
          </a:p>
        </p:txBody>
      </p:sp>
      <p:sp>
        <p:nvSpPr>
          <p:cNvPr id="585032413" name="TextBox 9"/>
          <p:cNvSpPr txBox="1"/>
          <p:nvPr/>
        </p:nvSpPr>
        <p:spPr bwMode="auto">
          <a:xfrm>
            <a:off x="8988552" y="6604000"/>
            <a:ext cx="3017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Numérique &amp; Néo-taylorisme</a:t>
            </a:r>
            <a:endParaRPr/>
          </a:p>
        </p:txBody>
      </p:sp>
      <p:sp>
        <p:nvSpPr>
          <p:cNvPr id="185251357" name="Rounded Rectangle 10"/>
          <p:cNvSpPr/>
          <p:nvPr/>
        </p:nvSpPr>
        <p:spPr bwMode="auto">
          <a:xfrm>
            <a:off x="292608" y="1737360"/>
            <a:ext cx="5623560" cy="4434840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270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4825971" name="Rounded Rectangle 11"/>
          <p:cNvSpPr/>
          <p:nvPr/>
        </p:nvSpPr>
        <p:spPr bwMode="auto">
          <a:xfrm>
            <a:off x="292608" y="1737360"/>
            <a:ext cx="5623560" cy="50800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4341804" name="TextBox 12"/>
          <p:cNvSpPr txBox="1"/>
          <p:nvPr/>
        </p:nvSpPr>
        <p:spPr bwMode="auto">
          <a:xfrm>
            <a:off x="457200" y="1865376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4ADE80"/>
                </a:solidFill>
                <a:latin typeface="Calibri"/>
              </a:rPr>
              <a:t>3 arguments</a:t>
            </a:r>
            <a:endParaRPr/>
          </a:p>
        </p:txBody>
      </p:sp>
      <p:sp>
        <p:nvSpPr>
          <p:cNvPr id="903451766" name="TextBox 13"/>
          <p:cNvSpPr txBox="1"/>
          <p:nvPr/>
        </p:nvSpPr>
        <p:spPr bwMode="auto">
          <a:xfrm>
            <a:off x="457200" y="2267712"/>
            <a:ext cx="5294376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① Contrôle en temps réel de tous les indicateurs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WMS mesure : taux d'absentéisme, taux d'erreur,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nb commandes/heure, 'temps productif' vs total.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② Rémunération variable liée à la performance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L'intéressement conditionné à une batterie de KPI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(accidents, satisfaction client, productivité).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Formule parfois illisible pour le salarié.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③ Distance managériale croissante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 chef d'équipe physique est remplacé par un tableau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de bord distant. La machine juge, pas l'homme.</a:t>
            </a:r>
            <a:endParaRPr/>
          </a:p>
        </p:txBody>
      </p:sp>
      <p:sp>
        <p:nvSpPr>
          <p:cNvPr id="592093596" name="Rounded Rectangle 14"/>
          <p:cNvSpPr/>
          <p:nvPr/>
        </p:nvSpPr>
        <p:spPr bwMode="auto">
          <a:xfrm>
            <a:off x="6263640" y="1737360"/>
            <a:ext cx="5623560" cy="4434840"/>
          </a:xfrm>
          <a:prstGeom prst="roundRect">
            <a:avLst>
              <a:gd name="adj" fmla="val 16667"/>
            </a:avLst>
          </a:prstGeom>
          <a:solidFill>
            <a:srgbClr val="1A2D47"/>
          </a:solidFill>
          <a:ln w="1270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05913377" name="Rounded Rectangle 15"/>
          <p:cNvSpPr/>
          <p:nvPr/>
        </p:nvSpPr>
        <p:spPr bwMode="auto">
          <a:xfrm>
            <a:off x="6263640" y="1737360"/>
            <a:ext cx="5623560" cy="5080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3730942" name="TextBox 16"/>
          <p:cNvSpPr txBox="1"/>
          <p:nvPr/>
        </p:nvSpPr>
        <p:spPr bwMode="auto">
          <a:xfrm>
            <a:off x="6428232" y="1865376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38BDF8"/>
                </a:solidFill>
                <a:latin typeface="Calibri"/>
              </a:rPr>
              <a:t>3 exemples</a:t>
            </a:r>
            <a:endParaRPr/>
          </a:p>
        </p:txBody>
      </p:sp>
      <p:sp>
        <p:nvSpPr>
          <p:cNvPr id="373563586" name="TextBox 17"/>
          <p:cNvSpPr txBox="1"/>
          <p:nvPr/>
        </p:nvSpPr>
        <p:spPr bwMode="auto">
          <a:xfrm>
            <a:off x="6428232" y="2267712"/>
            <a:ext cx="5294376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① Gautié &amp; Perez (LIEPP)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 'temps productif' exclut la formation et la réflexion.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Salarié rentable OU pas — sans nuance possible.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② Barbier, Cuny, Gaborieau (Travail &amp; Emploi, 2021)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Enquête WORKLOG (5 entrepôts FR &amp; DE) :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KPI individuels créent concurrence entre salariés,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fragilisant la solidarité syndicale (taux : ~4%).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③ Anne-Marie Dujarier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« Le management désincarné » : le manager ne voit plus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 travail réel — seulement des chiffres sur un écran.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7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548158" name="Oval 1"/>
          <p:cNvSpPr/>
          <p:nvPr/>
        </p:nvSpPr>
        <p:spPr bwMode="auto">
          <a:xfrm>
            <a:off x="-4114800" y="2743200"/>
            <a:ext cx="8229600" cy="8229600"/>
          </a:xfrm>
          <a:prstGeom prst="ellipse">
            <a:avLst/>
          </a:prstGeom>
          <a:solidFill>
            <a:srgbClr val="38BDF8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424983" name="Rectangle 2"/>
          <p:cNvSpPr/>
          <p:nvPr/>
        </p:nvSpPr>
        <p:spPr bwMode="auto">
          <a:xfrm>
            <a:off x="292608" y="685800"/>
            <a:ext cx="54864" cy="594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4286657" name="TextBox 3"/>
          <p:cNvSpPr txBox="1"/>
          <p:nvPr/>
        </p:nvSpPr>
        <p:spPr bwMode="auto">
          <a:xfrm>
            <a:off x="50292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64748B"/>
                </a:solidFill>
                <a:latin typeface="Calibri"/>
              </a:rPr>
              <a:t>Partie I  —  Idée directrice 3 / 3</a:t>
            </a:r>
            <a:endParaRPr/>
          </a:p>
        </p:txBody>
      </p:sp>
      <p:sp>
        <p:nvSpPr>
          <p:cNvPr id="536725273" name="TextBox 4"/>
          <p:cNvSpPr txBox="1"/>
          <p:nvPr/>
        </p:nvSpPr>
        <p:spPr bwMode="auto">
          <a:xfrm>
            <a:off x="502920" y="98755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 Light"/>
              </a:rPr>
              <a:t>Déqualification, flexibilisation et précarisation</a:t>
            </a:r>
            <a:endParaRPr/>
          </a:p>
        </p:txBody>
      </p:sp>
      <p:sp>
        <p:nvSpPr>
          <p:cNvPr id="1382271975" name="Rounded Rectangle 5"/>
          <p:cNvSpPr/>
          <p:nvPr/>
        </p:nvSpPr>
        <p:spPr bwMode="auto">
          <a:xfrm>
            <a:off x="10771632" y="164592"/>
            <a:ext cx="1188720" cy="475488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7597090" name="TextBox 6"/>
          <p:cNvSpPr txBox="1"/>
          <p:nvPr/>
        </p:nvSpPr>
        <p:spPr bwMode="auto">
          <a:xfrm>
            <a:off x="10799064" y="182880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0D1727"/>
                </a:solidFill>
                <a:latin typeface="Calibri"/>
              </a:rPr>
              <a:t>I · 3</a:t>
            </a:r>
            <a:endParaRPr/>
          </a:p>
        </p:txBody>
      </p:sp>
      <p:sp>
        <p:nvSpPr>
          <p:cNvPr id="29432187" name="Rectangle 7"/>
          <p:cNvSpPr/>
          <p:nvPr/>
        </p:nvSpPr>
        <p:spPr bwMode="auto">
          <a:xfrm>
            <a:off x="0" y="6578600"/>
            <a:ext cx="12188952" cy="1270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5878529" name="TextBox 8"/>
          <p:cNvSpPr txBox="1"/>
          <p:nvPr/>
        </p:nvSpPr>
        <p:spPr bwMode="auto">
          <a:xfrm>
            <a:off x="320040" y="6604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ETE101  ·  CNAM  ·  Tzvetanka KARANOV, Jovial Bodenan BANGA et Alban VIDELOUP  ·  2026</a:t>
            </a:r>
            <a:endParaRPr/>
          </a:p>
        </p:txBody>
      </p:sp>
      <p:sp>
        <p:nvSpPr>
          <p:cNvPr id="702392612" name="TextBox 9"/>
          <p:cNvSpPr txBox="1"/>
          <p:nvPr/>
        </p:nvSpPr>
        <p:spPr bwMode="auto">
          <a:xfrm>
            <a:off x="8988552" y="6604000"/>
            <a:ext cx="3017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Numérique &amp; Néo-taylorisme</a:t>
            </a:r>
            <a:endParaRPr/>
          </a:p>
        </p:txBody>
      </p:sp>
      <p:sp>
        <p:nvSpPr>
          <p:cNvPr id="2100053090" name="Rounded Rectangle 10"/>
          <p:cNvSpPr/>
          <p:nvPr/>
        </p:nvSpPr>
        <p:spPr bwMode="auto">
          <a:xfrm>
            <a:off x="292608" y="1737360"/>
            <a:ext cx="5623560" cy="4434840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270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2853515" name="Rounded Rectangle 11"/>
          <p:cNvSpPr/>
          <p:nvPr/>
        </p:nvSpPr>
        <p:spPr bwMode="auto">
          <a:xfrm>
            <a:off x="292608" y="1737360"/>
            <a:ext cx="5623560" cy="50800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7276933" name="TextBox 12"/>
          <p:cNvSpPr txBox="1"/>
          <p:nvPr/>
        </p:nvSpPr>
        <p:spPr bwMode="auto">
          <a:xfrm>
            <a:off x="457200" y="1865376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4ADE80"/>
                </a:solidFill>
                <a:latin typeface="Calibri"/>
              </a:rPr>
              <a:t>3 arguments</a:t>
            </a:r>
            <a:endParaRPr/>
          </a:p>
        </p:txBody>
      </p:sp>
      <p:sp>
        <p:nvSpPr>
          <p:cNvPr id="990815711" name="TextBox 13"/>
          <p:cNvSpPr txBox="1"/>
          <p:nvPr/>
        </p:nvSpPr>
        <p:spPr bwMode="auto">
          <a:xfrm>
            <a:off x="457200" y="2267712"/>
            <a:ext cx="5294376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① L'interchangeabilité comme stratégie RH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Déqualification → opérateur remplaçable en 2-3 jours.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L'intérim devient la norme : 25% en moyenne,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jusqu'à 70% dans certains entrepôts (Barbier et al.).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② Troubles musculo-squelettiques (TMS)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Cadences imposées par algorithme, travail répétitif.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Rotation de poste toutes les 1h30 dans entrepôts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semi-automatisés — sans enrichir le travail.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③ Segmentation genrée et racialisée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Déqualification → embauche de populations vulnérables.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Femmes (52%), étrangers (jusqu'à 100%), jeunes étudiants.</a:t>
            </a:r>
            <a:endParaRPr/>
          </a:p>
        </p:txBody>
      </p:sp>
      <p:sp>
        <p:nvSpPr>
          <p:cNvPr id="1924679062" name="Rounded Rectangle 14"/>
          <p:cNvSpPr/>
          <p:nvPr/>
        </p:nvSpPr>
        <p:spPr bwMode="auto">
          <a:xfrm>
            <a:off x="6263640" y="1737360"/>
            <a:ext cx="5623560" cy="4434840"/>
          </a:xfrm>
          <a:prstGeom prst="roundRect">
            <a:avLst>
              <a:gd name="adj" fmla="val 16667"/>
            </a:avLst>
          </a:prstGeom>
          <a:solidFill>
            <a:srgbClr val="1A2D47"/>
          </a:solidFill>
          <a:ln w="1270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2517712" name="Rounded Rectangle 15"/>
          <p:cNvSpPr/>
          <p:nvPr/>
        </p:nvSpPr>
        <p:spPr bwMode="auto">
          <a:xfrm>
            <a:off x="6263640" y="1737360"/>
            <a:ext cx="5623560" cy="5080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9215520" name="TextBox 16"/>
          <p:cNvSpPr txBox="1"/>
          <p:nvPr/>
        </p:nvSpPr>
        <p:spPr bwMode="auto">
          <a:xfrm>
            <a:off x="6428232" y="1865376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38BDF8"/>
                </a:solidFill>
                <a:latin typeface="Calibri"/>
              </a:rPr>
              <a:t>3 exemples</a:t>
            </a:r>
            <a:endParaRPr/>
          </a:p>
        </p:txBody>
      </p:sp>
      <p:sp>
        <p:nvSpPr>
          <p:cNvPr id="1864259614" name="TextBox 17"/>
          <p:cNvSpPr txBox="1"/>
          <p:nvPr/>
        </p:nvSpPr>
        <p:spPr bwMode="auto">
          <a:xfrm>
            <a:off x="6428232" y="2267712"/>
            <a:ext cx="5294376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① Barbier, Cuny, Gaborieau (2021) — WORKLOG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5 entrepôts France &amp; Allemagne.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30-70% d'intérimaires selon les sites.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Promesse CDI = levier de docilité.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② Semi-automatisation — Grosshandel (FfM)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Rotation toutes les 1h30 pour limiter les TMS.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« Alterner des tâches très parcellisées ne suffit pas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à enrichir l'emploi » (ouvrier interrogé).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③ INRS &amp; DARES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TMS = 87% des maladies professionnelles en logistique.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Coût externalisé sur la Sécurité sociale.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7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655311" name="Oval 1"/>
          <p:cNvSpPr/>
          <p:nvPr/>
        </p:nvSpPr>
        <p:spPr bwMode="auto">
          <a:xfrm>
            <a:off x="-5486400" y="1371600"/>
            <a:ext cx="10972800" cy="10972800"/>
          </a:xfrm>
          <a:prstGeom prst="ellipse">
            <a:avLst/>
          </a:prstGeom>
          <a:solidFill>
            <a:srgbClr val="38BDF8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9949509" name="Oval 2"/>
          <p:cNvSpPr/>
          <p:nvPr/>
        </p:nvSpPr>
        <p:spPr bwMode="auto">
          <a:xfrm>
            <a:off x="-2286000" y="3200400"/>
            <a:ext cx="7315200" cy="7315200"/>
          </a:xfrm>
          <a:prstGeom prst="ellipse">
            <a:avLst/>
          </a:prstGeom>
          <a:solidFill>
            <a:srgbClr val="4ADE80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6763988" name="Oval 3"/>
          <p:cNvSpPr/>
          <p:nvPr/>
        </p:nvSpPr>
        <p:spPr bwMode="auto">
          <a:xfrm>
            <a:off x="8531352" y="-3657600"/>
            <a:ext cx="7315200" cy="7315200"/>
          </a:xfrm>
          <a:prstGeom prst="ellipse">
            <a:avLst/>
          </a:prstGeom>
          <a:solidFill>
            <a:srgbClr val="38BDF8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9979935" name="Rectangle 4"/>
          <p:cNvSpPr/>
          <p:nvPr/>
        </p:nvSpPr>
        <p:spPr bwMode="auto">
          <a:xfrm>
            <a:off x="5088636" y="2286000"/>
            <a:ext cx="201168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2717813" name="TextBox 5"/>
          <p:cNvSpPr txBox="1"/>
          <p:nvPr/>
        </p:nvSpPr>
        <p:spPr bwMode="auto">
          <a:xfrm>
            <a:off x="36576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0" i="0">
                <a:solidFill>
                  <a:srgbClr val="64748B"/>
                </a:solidFill>
                <a:latin typeface="Calibri"/>
              </a:rPr>
              <a:t>PARTIE  II</a:t>
            </a:r>
            <a:endParaRPr/>
          </a:p>
        </p:txBody>
      </p:sp>
      <p:sp>
        <p:nvSpPr>
          <p:cNvPr id="1469134583" name="TextBox 6"/>
          <p:cNvSpPr txBox="1"/>
          <p:nvPr/>
        </p:nvSpPr>
        <p:spPr bwMode="auto">
          <a:xfrm>
            <a:off x="365760" y="2468880"/>
            <a:ext cx="10973160" cy="792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4600" b="1" i="0">
                <a:solidFill>
                  <a:srgbClr val="38BDF8"/>
                </a:solidFill>
                <a:latin typeface="Calibri Light"/>
              </a:rPr>
              <a:t>La subordination camouflé</a:t>
            </a:r>
            <a:r>
              <a:rPr lang="fr-FR" sz="4600" b="1" i="0">
                <a:solidFill>
                  <a:srgbClr val="38BDF8"/>
                </a:solidFill>
                <a:latin typeface="Calibri Light"/>
              </a:rPr>
              <a:t>e</a:t>
            </a:r>
            <a:r>
              <a:rPr sz="4600" b="1" i="0">
                <a:solidFill>
                  <a:srgbClr val="38BDF8"/>
                </a:solidFill>
                <a:latin typeface="Calibri Light"/>
              </a:rPr>
              <a:t> (invisible)</a:t>
            </a:r>
            <a:endParaRPr/>
          </a:p>
        </p:txBody>
      </p:sp>
      <p:sp>
        <p:nvSpPr>
          <p:cNvPr id="1517998841" name="TextBox 7"/>
          <p:cNvSpPr txBox="1"/>
          <p:nvPr/>
        </p:nvSpPr>
        <p:spPr bwMode="auto">
          <a:xfrm>
            <a:off x="365760" y="374903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200" b="0" i="1">
                <a:solidFill>
                  <a:srgbClr val="CBD5E1"/>
                </a:solidFill>
                <a:latin typeface="Calibri Light"/>
              </a:rPr>
              <a:t>Uber, Deliveroo et le faux travail indépendant</a:t>
            </a:r>
            <a:endParaRPr/>
          </a:p>
        </p:txBody>
      </p:sp>
      <p:sp>
        <p:nvSpPr>
          <p:cNvPr id="1037262393" name="Rectangle 8"/>
          <p:cNvSpPr/>
          <p:nvPr/>
        </p:nvSpPr>
        <p:spPr bwMode="auto">
          <a:xfrm>
            <a:off x="4722876" y="4572000"/>
            <a:ext cx="2743200" cy="508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7996080" name="TextBox 9"/>
          <p:cNvSpPr txBox="1"/>
          <p:nvPr/>
        </p:nvSpPr>
        <p:spPr bwMode="auto">
          <a:xfrm>
            <a:off x="365760" y="4736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64748B"/>
                </a:solidFill>
                <a:latin typeface="Calibri Light"/>
              </a:rPr>
              <a:t>Public Sénat (2022)  ·  Médecins du Monde  ·  Directive européenne 2024</a:t>
            </a:r>
            <a:endParaRPr/>
          </a:p>
        </p:txBody>
      </p:sp>
      <p:sp>
        <p:nvSpPr>
          <p:cNvPr id="244045956" name="Rectangle 10"/>
          <p:cNvSpPr/>
          <p:nvPr/>
        </p:nvSpPr>
        <p:spPr bwMode="auto">
          <a:xfrm>
            <a:off x="0" y="6578600"/>
            <a:ext cx="12188952" cy="1270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5911519" name="TextBox 11"/>
          <p:cNvSpPr txBox="1"/>
          <p:nvPr/>
        </p:nvSpPr>
        <p:spPr bwMode="auto">
          <a:xfrm>
            <a:off x="320040" y="6604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ETE101  ·  CNAM  ·  Tzvetanka KARANOV, Jovial Bodenan BANGA et Alban VIDELOUP  ·  2026</a:t>
            </a:r>
            <a:endParaRPr/>
          </a:p>
        </p:txBody>
      </p:sp>
      <p:sp>
        <p:nvSpPr>
          <p:cNvPr id="32005897" name="TextBox 12"/>
          <p:cNvSpPr txBox="1"/>
          <p:nvPr/>
        </p:nvSpPr>
        <p:spPr bwMode="auto">
          <a:xfrm>
            <a:off x="8988552" y="6604000"/>
            <a:ext cx="3017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Numérique &amp; Néo-taylorisme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7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829841" name="Oval 1"/>
          <p:cNvSpPr/>
          <p:nvPr/>
        </p:nvSpPr>
        <p:spPr bwMode="auto">
          <a:xfrm>
            <a:off x="-4114800" y="2743200"/>
            <a:ext cx="8229600" cy="8229600"/>
          </a:xfrm>
          <a:prstGeom prst="ellipse">
            <a:avLst/>
          </a:prstGeom>
          <a:solidFill>
            <a:srgbClr val="38BDF8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9382223" name="Rectangle 2"/>
          <p:cNvSpPr/>
          <p:nvPr/>
        </p:nvSpPr>
        <p:spPr bwMode="auto">
          <a:xfrm>
            <a:off x="292608" y="685800"/>
            <a:ext cx="54864" cy="594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5829892" name="TextBox 3"/>
          <p:cNvSpPr txBox="1"/>
          <p:nvPr/>
        </p:nvSpPr>
        <p:spPr bwMode="auto">
          <a:xfrm>
            <a:off x="50292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64748B"/>
                </a:solidFill>
                <a:latin typeface="Calibri"/>
              </a:rPr>
              <a:t>Partie II  —  Idée directrice 1 / 3</a:t>
            </a:r>
            <a:endParaRPr/>
          </a:p>
        </p:txBody>
      </p:sp>
      <p:sp>
        <p:nvSpPr>
          <p:cNvPr id="1310516396" name="TextBox 4"/>
          <p:cNvSpPr txBox="1"/>
          <p:nvPr/>
        </p:nvSpPr>
        <p:spPr bwMode="auto">
          <a:xfrm>
            <a:off x="502920" y="98755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 Light"/>
              </a:rPr>
              <a:t>Du salariat au faux travail indépendant</a:t>
            </a:r>
            <a:endParaRPr/>
          </a:p>
        </p:txBody>
      </p:sp>
      <p:sp>
        <p:nvSpPr>
          <p:cNvPr id="1205120669" name="Rounded Rectangle 5"/>
          <p:cNvSpPr/>
          <p:nvPr/>
        </p:nvSpPr>
        <p:spPr bwMode="auto">
          <a:xfrm>
            <a:off x="10771632" y="164592"/>
            <a:ext cx="1188720" cy="475488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4280329" name="TextBox 6"/>
          <p:cNvSpPr txBox="1"/>
          <p:nvPr/>
        </p:nvSpPr>
        <p:spPr bwMode="auto">
          <a:xfrm>
            <a:off x="10799064" y="182880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0D1727"/>
                </a:solidFill>
                <a:latin typeface="Calibri"/>
              </a:rPr>
              <a:t>II · 1</a:t>
            </a:r>
            <a:endParaRPr/>
          </a:p>
        </p:txBody>
      </p:sp>
      <p:sp>
        <p:nvSpPr>
          <p:cNvPr id="167094907" name="Rectangle 7"/>
          <p:cNvSpPr/>
          <p:nvPr/>
        </p:nvSpPr>
        <p:spPr bwMode="auto">
          <a:xfrm>
            <a:off x="0" y="6578600"/>
            <a:ext cx="12188952" cy="1270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7677784" name="TextBox 8"/>
          <p:cNvSpPr txBox="1"/>
          <p:nvPr/>
        </p:nvSpPr>
        <p:spPr bwMode="auto">
          <a:xfrm>
            <a:off x="320040" y="6604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ETE101  ·  CNAM  ·  Tzvetanka KARANOV, Jovial Bodenan BANGA et Alban VIDELOUP  ·  2026</a:t>
            </a:r>
            <a:endParaRPr/>
          </a:p>
        </p:txBody>
      </p:sp>
      <p:sp>
        <p:nvSpPr>
          <p:cNvPr id="2013968706" name="TextBox 9"/>
          <p:cNvSpPr txBox="1"/>
          <p:nvPr/>
        </p:nvSpPr>
        <p:spPr bwMode="auto">
          <a:xfrm>
            <a:off x="8988552" y="6604000"/>
            <a:ext cx="3017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Numérique &amp; Néo-taylorisme</a:t>
            </a:r>
            <a:endParaRPr/>
          </a:p>
        </p:txBody>
      </p:sp>
      <p:sp>
        <p:nvSpPr>
          <p:cNvPr id="410858157" name="Rounded Rectangle 10"/>
          <p:cNvSpPr/>
          <p:nvPr/>
        </p:nvSpPr>
        <p:spPr bwMode="auto">
          <a:xfrm>
            <a:off x="292608" y="1737360"/>
            <a:ext cx="5623560" cy="4434840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270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7340456" name="Rounded Rectangle 11"/>
          <p:cNvSpPr/>
          <p:nvPr/>
        </p:nvSpPr>
        <p:spPr bwMode="auto">
          <a:xfrm>
            <a:off x="292608" y="1737360"/>
            <a:ext cx="5623560" cy="5080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5306175" name="TextBox 12"/>
          <p:cNvSpPr txBox="1"/>
          <p:nvPr/>
        </p:nvSpPr>
        <p:spPr bwMode="auto">
          <a:xfrm>
            <a:off x="457200" y="1865376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38BDF8"/>
                </a:solidFill>
                <a:latin typeface="Calibri"/>
              </a:rPr>
              <a:t>3 arguments</a:t>
            </a:r>
            <a:endParaRPr/>
          </a:p>
        </p:txBody>
      </p:sp>
      <p:sp>
        <p:nvSpPr>
          <p:cNvPr id="1503542598" name="TextBox 13"/>
          <p:cNvSpPr txBox="1"/>
          <p:nvPr/>
        </p:nvSpPr>
        <p:spPr bwMode="auto">
          <a:xfrm>
            <a:off x="457200" y="2267712"/>
            <a:ext cx="5294376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① Le statut d'indépendant cache une subordination réelle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Les plateformes externalisent les risques (accident,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maladie, chômage) tout en conservant le contrôle total.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② L'algorithme impose : tarif, tâche, territoire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 livreur ne fixe pas son prix, ne choisit pas ses clients,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ne peut pas négocier. Subordination économique totale.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③ Opacité totale de la 'boîte noire'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La déconnexion arrive sans préavis, sans explication,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sans possibilité d'appel ni de recours.</a:t>
            </a:r>
            <a:endParaRPr/>
          </a:p>
        </p:txBody>
      </p:sp>
      <p:sp>
        <p:nvSpPr>
          <p:cNvPr id="206643780" name="Rounded Rectangle 14"/>
          <p:cNvSpPr/>
          <p:nvPr/>
        </p:nvSpPr>
        <p:spPr bwMode="auto">
          <a:xfrm>
            <a:off x="6263640" y="1737360"/>
            <a:ext cx="5623560" cy="4434840"/>
          </a:xfrm>
          <a:prstGeom prst="roundRect">
            <a:avLst>
              <a:gd name="adj" fmla="val 16667"/>
            </a:avLst>
          </a:prstGeom>
          <a:solidFill>
            <a:srgbClr val="1A2D47"/>
          </a:solidFill>
          <a:ln w="1270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5448705" name="Rounded Rectangle 15"/>
          <p:cNvSpPr/>
          <p:nvPr/>
        </p:nvSpPr>
        <p:spPr bwMode="auto">
          <a:xfrm>
            <a:off x="6263640" y="1737360"/>
            <a:ext cx="5623560" cy="50800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0051113" name="TextBox 16"/>
          <p:cNvSpPr txBox="1"/>
          <p:nvPr/>
        </p:nvSpPr>
        <p:spPr bwMode="auto">
          <a:xfrm>
            <a:off x="6428232" y="1865376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4ADE80"/>
                </a:solidFill>
                <a:latin typeface="Calibri"/>
              </a:rPr>
              <a:t>3 exemples</a:t>
            </a:r>
            <a:endParaRPr/>
          </a:p>
        </p:txBody>
      </p:sp>
      <p:sp>
        <p:nvSpPr>
          <p:cNvPr id="312294138" name="TextBox 17"/>
          <p:cNvSpPr txBox="1"/>
          <p:nvPr/>
        </p:nvSpPr>
        <p:spPr bwMode="auto">
          <a:xfrm>
            <a:off x="6428232" y="2267712"/>
            <a:ext cx="5294376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① Cour de cassation française (2020)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Requalification d'un chauffeur Uber en salarié.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La Cour reconnaît la subordination de fait :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 'travailleur indépendant' est un mythe juridique.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② Directive européenne 2024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L'UE adopte la 'présomption de salariat' :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c'est la plateforme qui doit prouver l'indépendance.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Transposition en France d'ici fin 2026.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③ Jeremy Rifkin — La Fin du travail (1995)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Dès 1995, Rifkin anticipait la disparition des emplois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traditionnels au profit d'un précariat numérique.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Les plateformes réalisent cette prophétie.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7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753140" name="Oval 1"/>
          <p:cNvSpPr/>
          <p:nvPr/>
        </p:nvSpPr>
        <p:spPr bwMode="auto">
          <a:xfrm>
            <a:off x="-4114800" y="2743200"/>
            <a:ext cx="8229600" cy="8229600"/>
          </a:xfrm>
          <a:prstGeom prst="ellipse">
            <a:avLst/>
          </a:prstGeom>
          <a:solidFill>
            <a:srgbClr val="38BDF8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0660805" name="Rectangle 2"/>
          <p:cNvSpPr/>
          <p:nvPr/>
        </p:nvSpPr>
        <p:spPr bwMode="auto">
          <a:xfrm>
            <a:off x="292608" y="685800"/>
            <a:ext cx="54864" cy="594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3046531" name="TextBox 3"/>
          <p:cNvSpPr txBox="1"/>
          <p:nvPr/>
        </p:nvSpPr>
        <p:spPr bwMode="auto">
          <a:xfrm>
            <a:off x="50292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64748B"/>
                </a:solidFill>
                <a:latin typeface="Calibri"/>
              </a:rPr>
              <a:t>Partie II  —  Idée directrice 2 / 3</a:t>
            </a:r>
            <a:endParaRPr/>
          </a:p>
        </p:txBody>
      </p:sp>
      <p:sp>
        <p:nvSpPr>
          <p:cNvPr id="188295925" name="TextBox 4"/>
          <p:cNvSpPr txBox="1"/>
          <p:nvPr/>
        </p:nvSpPr>
        <p:spPr bwMode="auto">
          <a:xfrm>
            <a:off x="502920" y="98755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 Light"/>
              </a:rPr>
              <a:t>Une précarité exacerbée sous couvert d'indépendance</a:t>
            </a:r>
            <a:endParaRPr/>
          </a:p>
        </p:txBody>
      </p:sp>
      <p:sp>
        <p:nvSpPr>
          <p:cNvPr id="1119755278" name="Rounded Rectangle 5"/>
          <p:cNvSpPr/>
          <p:nvPr/>
        </p:nvSpPr>
        <p:spPr bwMode="auto">
          <a:xfrm>
            <a:off x="10771632" y="164592"/>
            <a:ext cx="1188720" cy="475488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3508684" name="TextBox 6"/>
          <p:cNvSpPr txBox="1"/>
          <p:nvPr/>
        </p:nvSpPr>
        <p:spPr bwMode="auto">
          <a:xfrm>
            <a:off x="10799064" y="182880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0D1727"/>
                </a:solidFill>
                <a:latin typeface="Calibri"/>
              </a:rPr>
              <a:t>II · 2</a:t>
            </a:r>
            <a:endParaRPr/>
          </a:p>
        </p:txBody>
      </p:sp>
      <p:sp>
        <p:nvSpPr>
          <p:cNvPr id="551850730" name="Rectangle 7"/>
          <p:cNvSpPr/>
          <p:nvPr/>
        </p:nvSpPr>
        <p:spPr bwMode="auto">
          <a:xfrm>
            <a:off x="0" y="6578600"/>
            <a:ext cx="12188952" cy="1270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5915592" name="TextBox 8"/>
          <p:cNvSpPr txBox="1"/>
          <p:nvPr/>
        </p:nvSpPr>
        <p:spPr bwMode="auto">
          <a:xfrm>
            <a:off x="320040" y="6604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ETE101  ·  CNAM  ·  Tzvetanka KARANOV, Jovial Bodenan BANGA et Alban VIDELOUP  ·  2026</a:t>
            </a:r>
            <a:endParaRPr/>
          </a:p>
        </p:txBody>
      </p:sp>
      <p:sp>
        <p:nvSpPr>
          <p:cNvPr id="514061614" name="TextBox 9"/>
          <p:cNvSpPr txBox="1"/>
          <p:nvPr/>
        </p:nvSpPr>
        <p:spPr bwMode="auto">
          <a:xfrm>
            <a:off x="8988552" y="6604000"/>
            <a:ext cx="3017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Numérique &amp; Néo-taylorisme</a:t>
            </a:r>
            <a:endParaRPr/>
          </a:p>
        </p:txBody>
      </p:sp>
      <p:sp>
        <p:nvSpPr>
          <p:cNvPr id="1467527737" name="Rounded Rectangle 10"/>
          <p:cNvSpPr/>
          <p:nvPr/>
        </p:nvSpPr>
        <p:spPr bwMode="auto">
          <a:xfrm>
            <a:off x="292608" y="1737360"/>
            <a:ext cx="5623560" cy="4434840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270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5552023" name="Rounded Rectangle 11"/>
          <p:cNvSpPr/>
          <p:nvPr/>
        </p:nvSpPr>
        <p:spPr bwMode="auto">
          <a:xfrm>
            <a:off x="292608" y="1737360"/>
            <a:ext cx="5623560" cy="5080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3515714" name="TextBox 12"/>
          <p:cNvSpPr txBox="1"/>
          <p:nvPr/>
        </p:nvSpPr>
        <p:spPr bwMode="auto">
          <a:xfrm>
            <a:off x="457200" y="1865376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38BDF8"/>
                </a:solidFill>
                <a:latin typeface="Calibri"/>
              </a:rPr>
              <a:t>3 arguments</a:t>
            </a:r>
            <a:endParaRPr/>
          </a:p>
        </p:txBody>
      </p:sp>
      <p:sp>
        <p:nvSpPr>
          <p:cNvPr id="369380042" name="TextBox 13"/>
          <p:cNvSpPr txBox="1"/>
          <p:nvPr/>
        </p:nvSpPr>
        <p:spPr bwMode="auto">
          <a:xfrm>
            <a:off x="457200" y="2267712"/>
            <a:ext cx="5294376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① Revenus réels insuffisants : ~3 € / heure net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Après déduction des charges sociales,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frais de location de compte, entretien vélo/scooter,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 revenu horaire chute sous le SMIC.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② 63 heures / semaine pour un revenu de survie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Pour un revenu viable, le livreur doit travailler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des horaires inhumains, en journées fractionnées.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③ Vulnérabilité maximale — exploitation délibérée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66% des livreurs parisiens sans titre de séjour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(Public Sénat, 2022) : la plateforme exploite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cette vulnérabilité pour imposer ses conditions.</a:t>
            </a:r>
            <a:endParaRPr/>
          </a:p>
        </p:txBody>
      </p:sp>
      <p:sp>
        <p:nvSpPr>
          <p:cNvPr id="1863047133" name="Rounded Rectangle 14"/>
          <p:cNvSpPr/>
          <p:nvPr/>
        </p:nvSpPr>
        <p:spPr bwMode="auto">
          <a:xfrm>
            <a:off x="6263640" y="1737360"/>
            <a:ext cx="5623560" cy="4434840"/>
          </a:xfrm>
          <a:prstGeom prst="roundRect">
            <a:avLst>
              <a:gd name="adj" fmla="val 16667"/>
            </a:avLst>
          </a:prstGeom>
          <a:solidFill>
            <a:srgbClr val="1A2D47"/>
          </a:solidFill>
          <a:ln w="1270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3570145" name="Rounded Rectangle 15"/>
          <p:cNvSpPr/>
          <p:nvPr/>
        </p:nvSpPr>
        <p:spPr bwMode="auto">
          <a:xfrm>
            <a:off x="6263640" y="1737360"/>
            <a:ext cx="5623560" cy="50800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9168022" name="TextBox 16"/>
          <p:cNvSpPr txBox="1"/>
          <p:nvPr/>
        </p:nvSpPr>
        <p:spPr bwMode="auto">
          <a:xfrm>
            <a:off x="6428232" y="1865376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4ADE80"/>
                </a:solidFill>
                <a:latin typeface="Calibri"/>
              </a:rPr>
              <a:t>3 exemples</a:t>
            </a:r>
            <a:endParaRPr/>
          </a:p>
        </p:txBody>
      </p:sp>
      <p:sp>
        <p:nvSpPr>
          <p:cNvPr id="1910862061" name="TextBox 17"/>
          <p:cNvSpPr txBox="1"/>
          <p:nvPr/>
        </p:nvSpPr>
        <p:spPr bwMode="auto">
          <a:xfrm>
            <a:off x="6428232" y="2267712"/>
            <a:ext cx="5294376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① Public Sénat — enquête livreurs (2022)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Sous-location de comptes Uber : le 'vrai' livreur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paye pour utiliser le compte d'un autre.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Double précarité — pratique illégale tolérée.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② Médecins du Monde (2022)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 président qualifie ce système d'« esclavage moderne ».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59% des livreurs ont déjà eu un accident de la route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en raison de la pression temporelle de l'algorithme.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③ Loïc Wacquant — le 'précariat'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Nouvelle classe sociale structurellement sacrifiée :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ni salarié protégé, ni patron autonome —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dans un angle mort juridique et social.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7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626404" name="Oval 1"/>
          <p:cNvSpPr/>
          <p:nvPr/>
        </p:nvSpPr>
        <p:spPr bwMode="auto">
          <a:xfrm>
            <a:off x="-4114800" y="2743200"/>
            <a:ext cx="8229600" cy="8229600"/>
          </a:xfrm>
          <a:prstGeom prst="ellipse">
            <a:avLst/>
          </a:prstGeom>
          <a:solidFill>
            <a:srgbClr val="38BDF8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5291257" name="Rectangle 2"/>
          <p:cNvSpPr/>
          <p:nvPr/>
        </p:nvSpPr>
        <p:spPr bwMode="auto">
          <a:xfrm>
            <a:off x="292608" y="685800"/>
            <a:ext cx="54864" cy="594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9009610" name="TextBox 3"/>
          <p:cNvSpPr txBox="1"/>
          <p:nvPr/>
        </p:nvSpPr>
        <p:spPr bwMode="auto">
          <a:xfrm>
            <a:off x="50292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64748B"/>
                </a:solidFill>
                <a:latin typeface="Calibri"/>
              </a:rPr>
              <a:t>Partie II  —  Idée directrice 3 / 3</a:t>
            </a:r>
            <a:endParaRPr/>
          </a:p>
        </p:txBody>
      </p:sp>
      <p:sp>
        <p:nvSpPr>
          <p:cNvPr id="1125391395" name="TextBox 4"/>
          <p:cNvSpPr txBox="1"/>
          <p:nvPr/>
        </p:nvSpPr>
        <p:spPr bwMode="auto">
          <a:xfrm>
            <a:off x="502920" y="98755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 Light"/>
              </a:rPr>
              <a:t>La sanction algorithmique : licencier sans visage</a:t>
            </a:r>
            <a:endParaRPr/>
          </a:p>
        </p:txBody>
      </p:sp>
      <p:sp>
        <p:nvSpPr>
          <p:cNvPr id="984428356" name="Rounded Rectangle 5"/>
          <p:cNvSpPr/>
          <p:nvPr/>
        </p:nvSpPr>
        <p:spPr bwMode="auto">
          <a:xfrm>
            <a:off x="10771632" y="164592"/>
            <a:ext cx="1188720" cy="475488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6695399" name="TextBox 6"/>
          <p:cNvSpPr txBox="1"/>
          <p:nvPr/>
        </p:nvSpPr>
        <p:spPr bwMode="auto">
          <a:xfrm>
            <a:off x="10799064" y="182880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0D1727"/>
                </a:solidFill>
                <a:latin typeface="Calibri"/>
              </a:rPr>
              <a:t>II · 3</a:t>
            </a:r>
            <a:endParaRPr/>
          </a:p>
        </p:txBody>
      </p:sp>
      <p:sp>
        <p:nvSpPr>
          <p:cNvPr id="554007429" name="Rectangle 7"/>
          <p:cNvSpPr/>
          <p:nvPr/>
        </p:nvSpPr>
        <p:spPr bwMode="auto">
          <a:xfrm>
            <a:off x="0" y="6578600"/>
            <a:ext cx="12188952" cy="1270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9232029" name="TextBox 8"/>
          <p:cNvSpPr txBox="1"/>
          <p:nvPr/>
        </p:nvSpPr>
        <p:spPr bwMode="auto">
          <a:xfrm>
            <a:off x="320040" y="6604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ETE101  ·  CNAM  ·  Tzvetanka KARANOV, Jovial Bodenan BANGA et Alban VIDELOUP  ·  2026</a:t>
            </a:r>
            <a:endParaRPr/>
          </a:p>
        </p:txBody>
      </p:sp>
      <p:sp>
        <p:nvSpPr>
          <p:cNvPr id="639583930" name="TextBox 9"/>
          <p:cNvSpPr txBox="1"/>
          <p:nvPr/>
        </p:nvSpPr>
        <p:spPr bwMode="auto">
          <a:xfrm>
            <a:off x="8988552" y="6604000"/>
            <a:ext cx="3017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Numérique &amp; Néo-taylorisme</a:t>
            </a:r>
            <a:endParaRPr/>
          </a:p>
        </p:txBody>
      </p:sp>
      <p:sp>
        <p:nvSpPr>
          <p:cNvPr id="218105545" name="Rounded Rectangle 10"/>
          <p:cNvSpPr/>
          <p:nvPr/>
        </p:nvSpPr>
        <p:spPr bwMode="auto">
          <a:xfrm>
            <a:off x="292608" y="1737360"/>
            <a:ext cx="5623560" cy="4434840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270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2968846" name="Rounded Rectangle 11"/>
          <p:cNvSpPr/>
          <p:nvPr/>
        </p:nvSpPr>
        <p:spPr bwMode="auto">
          <a:xfrm>
            <a:off x="292608" y="1737360"/>
            <a:ext cx="5623560" cy="5080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8316549" name="TextBox 12"/>
          <p:cNvSpPr txBox="1"/>
          <p:nvPr/>
        </p:nvSpPr>
        <p:spPr bwMode="auto">
          <a:xfrm>
            <a:off x="457200" y="1865376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38BDF8"/>
                </a:solidFill>
                <a:latin typeface="Calibri"/>
              </a:rPr>
              <a:t>3 arguments</a:t>
            </a:r>
            <a:endParaRPr/>
          </a:p>
        </p:txBody>
      </p:sp>
      <p:sp>
        <p:nvSpPr>
          <p:cNvPr id="27223026" name="TextBox 13"/>
          <p:cNvSpPr txBox="1"/>
          <p:nvPr/>
        </p:nvSpPr>
        <p:spPr bwMode="auto">
          <a:xfrm>
            <a:off x="457200" y="2267712"/>
            <a:ext cx="5294376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① La déconnexion = licenciement sans procédure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Un algorithme 'désactive' un compte en quelques secondes,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sans préavis, sans explication, sans recours possible.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Fin immédiate du revenu pour le travailleur.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② La notation client comme arme de pression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 livreur est évalué par chaque client.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Une mauvaise série de notes déclenche la déconnexion.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Pression permanente, stress chronique.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③ La course aux notifications génère des accidents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L'algorithme favorise les livreurs rapides.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Pour rester en tête, il faut accepter vite et rouler vite.</a:t>
            </a:r>
            <a:endParaRPr/>
          </a:p>
        </p:txBody>
      </p:sp>
      <p:sp>
        <p:nvSpPr>
          <p:cNvPr id="1416143385" name="Rounded Rectangle 14"/>
          <p:cNvSpPr/>
          <p:nvPr/>
        </p:nvSpPr>
        <p:spPr bwMode="auto">
          <a:xfrm>
            <a:off x="6263640" y="1737360"/>
            <a:ext cx="5623560" cy="4434840"/>
          </a:xfrm>
          <a:prstGeom prst="roundRect">
            <a:avLst>
              <a:gd name="adj" fmla="val 16667"/>
            </a:avLst>
          </a:prstGeom>
          <a:solidFill>
            <a:srgbClr val="1A2D47"/>
          </a:solidFill>
          <a:ln w="1270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2357451" name="Rounded Rectangle 15"/>
          <p:cNvSpPr/>
          <p:nvPr/>
        </p:nvSpPr>
        <p:spPr bwMode="auto">
          <a:xfrm>
            <a:off x="6263640" y="1737360"/>
            <a:ext cx="5623560" cy="50800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6151301" name="TextBox 16"/>
          <p:cNvSpPr txBox="1"/>
          <p:nvPr/>
        </p:nvSpPr>
        <p:spPr bwMode="auto">
          <a:xfrm>
            <a:off x="6428232" y="1865376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4ADE80"/>
                </a:solidFill>
                <a:latin typeface="Calibri"/>
              </a:rPr>
              <a:t>3 exemples</a:t>
            </a:r>
            <a:endParaRPr/>
          </a:p>
        </p:txBody>
      </p:sp>
      <p:sp>
        <p:nvSpPr>
          <p:cNvPr id="1199837879" name="TextBox 17"/>
          <p:cNvSpPr txBox="1"/>
          <p:nvPr/>
        </p:nvSpPr>
        <p:spPr bwMode="auto">
          <a:xfrm>
            <a:off x="6428232" y="2267712"/>
            <a:ext cx="5294376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① Public Sénat (2022) — accidentologie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59% des livreurs ont déjà eu un accident de la route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en raison de la pression temporelle algorithmique.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② Deliveroo France (2020) — déconnexions massives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Lors de l'arrêt de Deliveroo, 120 000 livreurs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déconnectés sans indemnité ni préavis.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Preuve de la fragilité totale du statut.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③ Rifkin — La Fin du travail (1995)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Rifkin anticipait une 'élite' technologique et une masse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de travailleurs précaires sans filet de sécurité.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Les plateformes algorithmiques réalisent ce scénario.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7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539790" name="Oval 1"/>
          <p:cNvSpPr/>
          <p:nvPr/>
        </p:nvSpPr>
        <p:spPr bwMode="auto">
          <a:xfrm>
            <a:off x="-5486400" y="1371600"/>
            <a:ext cx="10972800" cy="10972800"/>
          </a:xfrm>
          <a:prstGeom prst="ellipse">
            <a:avLst/>
          </a:prstGeom>
          <a:solidFill>
            <a:srgbClr val="38BDF8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2154272" name="Oval 2"/>
          <p:cNvSpPr/>
          <p:nvPr/>
        </p:nvSpPr>
        <p:spPr bwMode="auto">
          <a:xfrm>
            <a:off x="-2286000" y="3200400"/>
            <a:ext cx="7315200" cy="7315200"/>
          </a:xfrm>
          <a:prstGeom prst="ellipse">
            <a:avLst/>
          </a:prstGeom>
          <a:solidFill>
            <a:srgbClr val="4ADE80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6155887" name="Oval 3"/>
          <p:cNvSpPr/>
          <p:nvPr/>
        </p:nvSpPr>
        <p:spPr bwMode="auto">
          <a:xfrm>
            <a:off x="8531352" y="-3657600"/>
            <a:ext cx="7315200" cy="7315200"/>
          </a:xfrm>
          <a:prstGeom prst="ellipse">
            <a:avLst/>
          </a:prstGeom>
          <a:solidFill>
            <a:srgbClr val="38BDF8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4288497" name="Rectangle 4"/>
          <p:cNvSpPr/>
          <p:nvPr/>
        </p:nvSpPr>
        <p:spPr bwMode="auto">
          <a:xfrm>
            <a:off x="5088636" y="2286000"/>
            <a:ext cx="201168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4849948" name="TextBox 5"/>
          <p:cNvSpPr txBox="1"/>
          <p:nvPr/>
        </p:nvSpPr>
        <p:spPr bwMode="auto">
          <a:xfrm>
            <a:off x="36576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600" b="0" i="0">
                <a:solidFill>
                  <a:srgbClr val="64748B"/>
                </a:solidFill>
                <a:latin typeface="Calibri"/>
              </a:rPr>
              <a:t>PARTIE  III</a:t>
            </a:r>
            <a:endParaRPr/>
          </a:p>
        </p:txBody>
      </p:sp>
      <p:sp>
        <p:nvSpPr>
          <p:cNvPr id="758252335" name="TextBox 6"/>
          <p:cNvSpPr txBox="1"/>
          <p:nvPr/>
        </p:nvSpPr>
        <p:spPr bwMode="auto">
          <a:xfrm>
            <a:off x="365760" y="24688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4600" b="1" i="0">
                <a:solidFill>
                  <a:srgbClr val="FB923C"/>
                </a:solidFill>
                <a:latin typeface="Calibri Light"/>
              </a:rPr>
              <a:t>La dictature algorithmique</a:t>
            </a:r>
            <a:endParaRPr/>
          </a:p>
        </p:txBody>
      </p:sp>
      <p:sp>
        <p:nvSpPr>
          <p:cNvPr id="798529481" name="TextBox 7"/>
          <p:cNvSpPr txBox="1"/>
          <p:nvPr/>
        </p:nvSpPr>
        <p:spPr bwMode="auto">
          <a:xfrm>
            <a:off x="365760" y="374903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2200" b="0" i="1">
                <a:solidFill>
                  <a:srgbClr val="CBD5E1"/>
                </a:solidFill>
                <a:latin typeface="Calibri Light"/>
              </a:rPr>
              <a:t>Des cols bleus aux cadres — la généralisation du néo-taylorisme</a:t>
            </a:r>
            <a:endParaRPr/>
          </a:p>
        </p:txBody>
      </p:sp>
      <p:sp>
        <p:nvSpPr>
          <p:cNvPr id="865237041" name="Rectangle 8"/>
          <p:cNvSpPr/>
          <p:nvPr/>
        </p:nvSpPr>
        <p:spPr bwMode="auto">
          <a:xfrm>
            <a:off x="4722876" y="4572000"/>
            <a:ext cx="2743200" cy="508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402378" name="TextBox 9"/>
          <p:cNvSpPr txBox="1"/>
          <p:nvPr/>
        </p:nvSpPr>
        <p:spPr bwMode="auto">
          <a:xfrm>
            <a:off x="365760" y="4736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00" b="0" i="0">
                <a:solidFill>
                  <a:srgbClr val="64748B"/>
                </a:solidFill>
                <a:latin typeface="Calibri Light"/>
              </a:rPr>
              <a:t>Dujarier  ·  Yves Clot  ·  Perez &amp; Coutrot (Seuil, 2022)  ·  Rifkin</a:t>
            </a:r>
            <a:endParaRPr/>
          </a:p>
        </p:txBody>
      </p:sp>
      <p:sp>
        <p:nvSpPr>
          <p:cNvPr id="439135304" name="Rectangle 10"/>
          <p:cNvSpPr/>
          <p:nvPr/>
        </p:nvSpPr>
        <p:spPr bwMode="auto">
          <a:xfrm>
            <a:off x="0" y="6578600"/>
            <a:ext cx="12188952" cy="1270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09908178" name="TextBox 11"/>
          <p:cNvSpPr txBox="1"/>
          <p:nvPr/>
        </p:nvSpPr>
        <p:spPr bwMode="auto">
          <a:xfrm>
            <a:off x="320040" y="6604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ETE101  ·  CNAM  ·  Tzvetanka KARANOV, Jovial Bodenan BANGA et Alban VIDELOUP  ·  2026</a:t>
            </a:r>
            <a:endParaRPr/>
          </a:p>
        </p:txBody>
      </p:sp>
      <p:sp>
        <p:nvSpPr>
          <p:cNvPr id="1345266068" name="TextBox 12"/>
          <p:cNvSpPr txBox="1"/>
          <p:nvPr/>
        </p:nvSpPr>
        <p:spPr bwMode="auto">
          <a:xfrm>
            <a:off x="8988552" y="6604000"/>
            <a:ext cx="3017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Numérique &amp; Néo-taylorisme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7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552750" name="Oval 1"/>
          <p:cNvSpPr/>
          <p:nvPr/>
        </p:nvSpPr>
        <p:spPr bwMode="auto">
          <a:xfrm>
            <a:off x="-4114800" y="2743200"/>
            <a:ext cx="8229600" cy="8229600"/>
          </a:xfrm>
          <a:prstGeom prst="ellipse">
            <a:avLst/>
          </a:prstGeom>
          <a:solidFill>
            <a:srgbClr val="38BDF8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3779241" name="Rectangle 2"/>
          <p:cNvSpPr/>
          <p:nvPr/>
        </p:nvSpPr>
        <p:spPr bwMode="auto">
          <a:xfrm>
            <a:off x="292608" y="685800"/>
            <a:ext cx="54864" cy="594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2090746" name="TextBox 3"/>
          <p:cNvSpPr txBox="1"/>
          <p:nvPr/>
        </p:nvSpPr>
        <p:spPr bwMode="auto">
          <a:xfrm>
            <a:off x="50292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64748B"/>
                </a:solidFill>
                <a:latin typeface="Calibri"/>
              </a:rPr>
              <a:t>Partie III  —  Idée directrice 1 / 3</a:t>
            </a:r>
            <a:endParaRPr/>
          </a:p>
        </p:txBody>
      </p:sp>
      <p:sp>
        <p:nvSpPr>
          <p:cNvPr id="1554526883" name="TextBox 4"/>
          <p:cNvSpPr txBox="1"/>
          <p:nvPr/>
        </p:nvSpPr>
        <p:spPr bwMode="auto">
          <a:xfrm>
            <a:off x="502920" y="98755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 Light"/>
              </a:rPr>
              <a:t>La standardisation du travail intellectuel : le script comme one best way</a:t>
            </a:r>
            <a:endParaRPr/>
          </a:p>
        </p:txBody>
      </p:sp>
      <p:sp>
        <p:nvSpPr>
          <p:cNvPr id="345976230" name="Rounded Rectangle 5"/>
          <p:cNvSpPr/>
          <p:nvPr/>
        </p:nvSpPr>
        <p:spPr bwMode="auto">
          <a:xfrm>
            <a:off x="10771632" y="164592"/>
            <a:ext cx="1188720" cy="475488"/>
          </a:xfrm>
          <a:prstGeom prst="roundRect">
            <a:avLst>
              <a:gd name="adj" fmla="val 16667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53865710" name="TextBox 6"/>
          <p:cNvSpPr txBox="1"/>
          <p:nvPr/>
        </p:nvSpPr>
        <p:spPr bwMode="auto">
          <a:xfrm>
            <a:off x="10799064" y="182880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0D1727"/>
                </a:solidFill>
                <a:latin typeface="Calibri"/>
              </a:rPr>
              <a:t>III · 1</a:t>
            </a:r>
            <a:endParaRPr/>
          </a:p>
        </p:txBody>
      </p:sp>
      <p:sp>
        <p:nvSpPr>
          <p:cNvPr id="661652619" name="Rectangle 7"/>
          <p:cNvSpPr/>
          <p:nvPr/>
        </p:nvSpPr>
        <p:spPr bwMode="auto">
          <a:xfrm>
            <a:off x="0" y="6578600"/>
            <a:ext cx="12188952" cy="1270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99526685" name="TextBox 8"/>
          <p:cNvSpPr txBox="1"/>
          <p:nvPr/>
        </p:nvSpPr>
        <p:spPr bwMode="auto">
          <a:xfrm>
            <a:off x="320040" y="6604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ETE101  ·  CNAM  ·  Tzvetanka KARANOV, Jovial Bodenan BANGA et Alban VIDELOUP  ·  2026</a:t>
            </a:r>
            <a:endParaRPr/>
          </a:p>
        </p:txBody>
      </p:sp>
      <p:sp>
        <p:nvSpPr>
          <p:cNvPr id="2083668876" name="TextBox 9"/>
          <p:cNvSpPr txBox="1"/>
          <p:nvPr/>
        </p:nvSpPr>
        <p:spPr bwMode="auto">
          <a:xfrm>
            <a:off x="8988552" y="6604000"/>
            <a:ext cx="3017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Numérique &amp; Néo-taylorisme</a:t>
            </a:r>
            <a:endParaRPr/>
          </a:p>
        </p:txBody>
      </p:sp>
      <p:sp>
        <p:nvSpPr>
          <p:cNvPr id="2071360469" name="Rounded Rectangle 10"/>
          <p:cNvSpPr/>
          <p:nvPr/>
        </p:nvSpPr>
        <p:spPr bwMode="auto">
          <a:xfrm>
            <a:off x="292608" y="1737360"/>
            <a:ext cx="5623560" cy="4434840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270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3844022" name="Rounded Rectangle 11"/>
          <p:cNvSpPr/>
          <p:nvPr/>
        </p:nvSpPr>
        <p:spPr bwMode="auto">
          <a:xfrm>
            <a:off x="292608" y="1737360"/>
            <a:ext cx="5623560" cy="50800"/>
          </a:xfrm>
          <a:prstGeom prst="roundRect">
            <a:avLst>
              <a:gd name="adj" fmla="val 16667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6676413" name="TextBox 12"/>
          <p:cNvSpPr txBox="1"/>
          <p:nvPr/>
        </p:nvSpPr>
        <p:spPr bwMode="auto">
          <a:xfrm>
            <a:off x="457200" y="1865376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B923C"/>
                </a:solidFill>
                <a:latin typeface="Calibri"/>
              </a:rPr>
              <a:t>3 arguments</a:t>
            </a:r>
            <a:endParaRPr/>
          </a:p>
        </p:txBody>
      </p:sp>
      <p:sp>
        <p:nvSpPr>
          <p:cNvPr id="710140201" name="TextBox 13"/>
          <p:cNvSpPr txBox="1"/>
          <p:nvPr/>
        </p:nvSpPr>
        <p:spPr bwMode="auto">
          <a:xfrm>
            <a:off x="457200" y="2267712"/>
            <a:ext cx="5294376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① Scripts imposés → effacement du jugement professionnel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Dans les centres d'appels : chaque réponse est prédéterminée.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8 minutes max par appel, script figé.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 savoir-faire relationnel est effacé.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② ERP / CRM dictent les procédures aux cols blancs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Formulaires verrouillés à France Travail, urbanisme, banque.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 professionnel devient opérateur — pas de dérogation possible.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③ Autonomie 'au' travail en recul pour les cadres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Depuis les années 2000 : recul de l'autonomie dans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 choix des méthodes, y compris pour les ingénieurs.</a:t>
            </a:r>
            <a:endParaRPr/>
          </a:p>
        </p:txBody>
      </p:sp>
      <p:sp>
        <p:nvSpPr>
          <p:cNvPr id="265429607" name="Rounded Rectangle 14"/>
          <p:cNvSpPr/>
          <p:nvPr/>
        </p:nvSpPr>
        <p:spPr bwMode="auto">
          <a:xfrm>
            <a:off x="6263640" y="1737360"/>
            <a:ext cx="5623560" cy="4434840"/>
          </a:xfrm>
          <a:prstGeom prst="roundRect">
            <a:avLst>
              <a:gd name="adj" fmla="val 16667"/>
            </a:avLst>
          </a:prstGeom>
          <a:solidFill>
            <a:srgbClr val="1A2D47"/>
          </a:solidFill>
          <a:ln w="1270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1930326" name="Rounded Rectangle 15"/>
          <p:cNvSpPr/>
          <p:nvPr/>
        </p:nvSpPr>
        <p:spPr bwMode="auto">
          <a:xfrm>
            <a:off x="6263640" y="1737360"/>
            <a:ext cx="5623560" cy="5080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1255160" name="TextBox 16"/>
          <p:cNvSpPr txBox="1"/>
          <p:nvPr/>
        </p:nvSpPr>
        <p:spPr bwMode="auto">
          <a:xfrm>
            <a:off x="6428232" y="1865376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38BDF8"/>
                </a:solidFill>
                <a:latin typeface="Calibri"/>
              </a:rPr>
              <a:t>3 exemples</a:t>
            </a:r>
            <a:endParaRPr/>
          </a:p>
        </p:txBody>
      </p:sp>
      <p:sp>
        <p:nvSpPr>
          <p:cNvPr id="1988400116" name="TextBox 17"/>
          <p:cNvSpPr txBox="1"/>
          <p:nvPr/>
        </p:nvSpPr>
        <p:spPr bwMode="auto">
          <a:xfrm>
            <a:off x="6428232" y="2267712"/>
            <a:ext cx="5294376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① Centres d'appels (banque, assurance)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TTM (Temps de Traitement Moyen) : 8 min / appel.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 conseiller ne peut pas s'adapter à la complexité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réelle. La relation humaine est standardisée.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② France Travail (ex-Pôle Emploi)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Conseillers avec scripts d'entretien et quotas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de 'portefeuille géré'. L'accompagnement personnalisé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sacrifié à la productivité quantitative.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③ Max Weber — autonomie 'au' vs 'du' travail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Distinction weberienne fondamentale : les deux formes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d'autonomie régressent face au numérique.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La liberté formelle masque la contrainte réelle.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7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688110" name="Oval 1"/>
          <p:cNvSpPr/>
          <p:nvPr/>
        </p:nvSpPr>
        <p:spPr bwMode="auto">
          <a:xfrm>
            <a:off x="-4114800" y="2743200"/>
            <a:ext cx="8229600" cy="8229600"/>
          </a:xfrm>
          <a:prstGeom prst="ellipse">
            <a:avLst/>
          </a:prstGeom>
          <a:solidFill>
            <a:srgbClr val="38BDF8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8822344" name="Rectangle 2"/>
          <p:cNvSpPr/>
          <p:nvPr/>
        </p:nvSpPr>
        <p:spPr bwMode="auto">
          <a:xfrm>
            <a:off x="292608" y="685800"/>
            <a:ext cx="54864" cy="594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9567164" name="TextBox 3"/>
          <p:cNvSpPr txBox="1"/>
          <p:nvPr/>
        </p:nvSpPr>
        <p:spPr bwMode="auto">
          <a:xfrm>
            <a:off x="50292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64748B"/>
                </a:solidFill>
                <a:latin typeface="Calibri"/>
              </a:rPr>
              <a:t>Partie III  —  Idée directrice 2 / 3</a:t>
            </a:r>
            <a:endParaRPr/>
          </a:p>
        </p:txBody>
      </p:sp>
      <p:sp>
        <p:nvSpPr>
          <p:cNvPr id="1371627279" name="TextBox 4"/>
          <p:cNvSpPr txBox="1"/>
          <p:nvPr/>
        </p:nvSpPr>
        <p:spPr bwMode="auto">
          <a:xfrm>
            <a:off x="502920" y="98755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 Light"/>
              </a:rPr>
              <a:t>Le management par KPI : quand le chiffre efface le travail réel</a:t>
            </a:r>
            <a:endParaRPr/>
          </a:p>
        </p:txBody>
      </p:sp>
      <p:sp>
        <p:nvSpPr>
          <p:cNvPr id="2122891300" name="Rounded Rectangle 5"/>
          <p:cNvSpPr/>
          <p:nvPr/>
        </p:nvSpPr>
        <p:spPr bwMode="auto">
          <a:xfrm>
            <a:off x="10771632" y="164592"/>
            <a:ext cx="1188720" cy="475488"/>
          </a:xfrm>
          <a:prstGeom prst="roundRect">
            <a:avLst>
              <a:gd name="adj" fmla="val 16667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0848319" name="TextBox 6"/>
          <p:cNvSpPr txBox="1"/>
          <p:nvPr/>
        </p:nvSpPr>
        <p:spPr bwMode="auto">
          <a:xfrm>
            <a:off x="10799064" y="182880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0D1727"/>
                </a:solidFill>
                <a:latin typeface="Calibri"/>
              </a:rPr>
              <a:t>III · 2</a:t>
            </a:r>
            <a:endParaRPr/>
          </a:p>
        </p:txBody>
      </p:sp>
      <p:sp>
        <p:nvSpPr>
          <p:cNvPr id="435729636" name="Rectangle 7"/>
          <p:cNvSpPr/>
          <p:nvPr/>
        </p:nvSpPr>
        <p:spPr bwMode="auto">
          <a:xfrm>
            <a:off x="0" y="6578600"/>
            <a:ext cx="12188952" cy="1270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1883454" name="TextBox 8"/>
          <p:cNvSpPr txBox="1"/>
          <p:nvPr/>
        </p:nvSpPr>
        <p:spPr bwMode="auto">
          <a:xfrm>
            <a:off x="320040" y="6604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ETE101  ·  CNAM  ·  Tzvetanka KARANOV, Jovial Bodenan BANGA et Alban VIDELOUP  ·  2026</a:t>
            </a:r>
            <a:endParaRPr/>
          </a:p>
        </p:txBody>
      </p:sp>
      <p:sp>
        <p:nvSpPr>
          <p:cNvPr id="612969888" name="TextBox 9"/>
          <p:cNvSpPr txBox="1"/>
          <p:nvPr/>
        </p:nvSpPr>
        <p:spPr bwMode="auto">
          <a:xfrm>
            <a:off x="8988552" y="6604000"/>
            <a:ext cx="3017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Numérique &amp; Néo-taylorisme</a:t>
            </a:r>
            <a:endParaRPr/>
          </a:p>
        </p:txBody>
      </p:sp>
      <p:sp>
        <p:nvSpPr>
          <p:cNvPr id="1302000304" name="Rounded Rectangle 10"/>
          <p:cNvSpPr/>
          <p:nvPr/>
        </p:nvSpPr>
        <p:spPr bwMode="auto">
          <a:xfrm>
            <a:off x="292608" y="1737360"/>
            <a:ext cx="5623560" cy="4434840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270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7921206" name="Rounded Rectangle 11"/>
          <p:cNvSpPr/>
          <p:nvPr/>
        </p:nvSpPr>
        <p:spPr bwMode="auto">
          <a:xfrm>
            <a:off x="292608" y="1737360"/>
            <a:ext cx="5623560" cy="50800"/>
          </a:xfrm>
          <a:prstGeom prst="roundRect">
            <a:avLst>
              <a:gd name="adj" fmla="val 16667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3601439" name="TextBox 12"/>
          <p:cNvSpPr txBox="1"/>
          <p:nvPr/>
        </p:nvSpPr>
        <p:spPr bwMode="auto">
          <a:xfrm>
            <a:off x="457200" y="1865376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B923C"/>
                </a:solidFill>
                <a:latin typeface="Calibri"/>
              </a:rPr>
              <a:t>3 arguments</a:t>
            </a:r>
            <a:endParaRPr/>
          </a:p>
        </p:txBody>
      </p:sp>
      <p:sp>
        <p:nvSpPr>
          <p:cNvPr id="2040255136" name="TextBox 13"/>
          <p:cNvSpPr txBox="1"/>
          <p:nvPr/>
        </p:nvSpPr>
        <p:spPr bwMode="auto">
          <a:xfrm>
            <a:off x="457200" y="2267712"/>
            <a:ext cx="5298335" cy="3497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① Les KPI quantitatifs écrasent la qualité réelle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Un cadre évalué sur son taux de transformation (ventes)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ou son NPS ne peut pas prendre le temps de former,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d'innover, de réfléchir.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② Les 'temps morts' créatifs exclus du 'temps productif'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Réflexion, formation, échange informel = sources d'innovation.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invisibles dans les tableaux de bord → ils disparaissent.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③ L'entreprise réduite à un dashboard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La 'comédie du travail' : lofts et baby-foot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masquent une pression algorithmique croissante.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As-If Management (Dujarier).</a:t>
            </a:r>
            <a:endParaRPr/>
          </a:p>
        </p:txBody>
      </p:sp>
      <p:sp>
        <p:nvSpPr>
          <p:cNvPr id="1219238841" name="Rounded Rectangle 14"/>
          <p:cNvSpPr/>
          <p:nvPr/>
        </p:nvSpPr>
        <p:spPr bwMode="auto">
          <a:xfrm>
            <a:off x="6263640" y="1737360"/>
            <a:ext cx="5623560" cy="4434840"/>
          </a:xfrm>
          <a:prstGeom prst="roundRect">
            <a:avLst>
              <a:gd name="adj" fmla="val 16667"/>
            </a:avLst>
          </a:prstGeom>
          <a:solidFill>
            <a:srgbClr val="1A2D47"/>
          </a:solidFill>
          <a:ln w="1270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8890376" name="Rounded Rectangle 15"/>
          <p:cNvSpPr/>
          <p:nvPr/>
        </p:nvSpPr>
        <p:spPr bwMode="auto">
          <a:xfrm>
            <a:off x="6263640" y="1737360"/>
            <a:ext cx="5623560" cy="5080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3054028" name="TextBox 16"/>
          <p:cNvSpPr txBox="1"/>
          <p:nvPr/>
        </p:nvSpPr>
        <p:spPr bwMode="auto">
          <a:xfrm>
            <a:off x="6428232" y="1865376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38BDF8"/>
                </a:solidFill>
                <a:latin typeface="Calibri"/>
              </a:rPr>
              <a:t>3 exemples</a:t>
            </a:r>
            <a:endParaRPr/>
          </a:p>
        </p:txBody>
      </p:sp>
      <p:sp>
        <p:nvSpPr>
          <p:cNvPr id="1443802465" name="TextBox 17"/>
          <p:cNvSpPr txBox="1"/>
          <p:nvPr/>
        </p:nvSpPr>
        <p:spPr bwMode="auto">
          <a:xfrm>
            <a:off x="6428232" y="2267712"/>
            <a:ext cx="5294376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① Anne-Marie Dujarier — Le management désincarné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 manager ne voit plus le travail réel, seulement les chiffres.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Ce fossé crée des prescriptions absurdes et de la souffrance.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② Yves Clot — La qualité empêchée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 malaise des salariés vient de l'impossibilité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de 'bien faire son travail' à cause des contraintes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logicielles et des KPI contradictoires.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③ Microsoft Work Trend Index (2023)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Un cadre utilise 10 applications 25 fois/jour.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Cette surcharge applicative fragmente l'attention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et dégrade la qualité des décisions.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7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3733839" name="Oval 1"/>
          <p:cNvSpPr/>
          <p:nvPr/>
        </p:nvSpPr>
        <p:spPr bwMode="auto">
          <a:xfrm>
            <a:off x="-4114800" y="2743200"/>
            <a:ext cx="8229600" cy="8229600"/>
          </a:xfrm>
          <a:prstGeom prst="ellipse">
            <a:avLst/>
          </a:prstGeom>
          <a:solidFill>
            <a:srgbClr val="38BDF8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5492249" name="Rectangle 2"/>
          <p:cNvSpPr/>
          <p:nvPr/>
        </p:nvSpPr>
        <p:spPr bwMode="auto">
          <a:xfrm>
            <a:off x="292608" y="685800"/>
            <a:ext cx="54864" cy="594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5753836" name="TextBox 3"/>
          <p:cNvSpPr txBox="1"/>
          <p:nvPr/>
        </p:nvSpPr>
        <p:spPr bwMode="auto">
          <a:xfrm>
            <a:off x="502920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00" b="0" i="0">
                <a:solidFill>
                  <a:srgbClr val="64748B"/>
                </a:solidFill>
                <a:latin typeface="Calibri"/>
              </a:rPr>
              <a:t>Partie III  —  Idée directrice 3 / 3</a:t>
            </a:r>
            <a:endParaRPr/>
          </a:p>
        </p:txBody>
      </p:sp>
      <p:sp>
        <p:nvSpPr>
          <p:cNvPr id="1753111939" name="TextBox 4"/>
          <p:cNvSpPr txBox="1"/>
          <p:nvPr/>
        </p:nvSpPr>
        <p:spPr bwMode="auto">
          <a:xfrm>
            <a:off x="502920" y="98755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 Light"/>
              </a:rPr>
              <a:t>Risques psychosociaux : saturation, burn-out et perte de sens</a:t>
            </a:r>
            <a:endParaRPr/>
          </a:p>
        </p:txBody>
      </p:sp>
      <p:sp>
        <p:nvSpPr>
          <p:cNvPr id="1203058473" name="Rounded Rectangle 5"/>
          <p:cNvSpPr/>
          <p:nvPr/>
        </p:nvSpPr>
        <p:spPr bwMode="auto">
          <a:xfrm>
            <a:off x="10771632" y="164592"/>
            <a:ext cx="1188720" cy="475488"/>
          </a:xfrm>
          <a:prstGeom prst="roundRect">
            <a:avLst>
              <a:gd name="adj" fmla="val 16667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6236863" name="TextBox 6"/>
          <p:cNvSpPr txBox="1"/>
          <p:nvPr/>
        </p:nvSpPr>
        <p:spPr bwMode="auto">
          <a:xfrm>
            <a:off x="10799064" y="182880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500" b="1" i="0">
                <a:solidFill>
                  <a:srgbClr val="0D1727"/>
                </a:solidFill>
                <a:latin typeface="Calibri"/>
              </a:rPr>
              <a:t>III · 3</a:t>
            </a:r>
            <a:endParaRPr/>
          </a:p>
        </p:txBody>
      </p:sp>
      <p:sp>
        <p:nvSpPr>
          <p:cNvPr id="1246871746" name="Rectangle 7"/>
          <p:cNvSpPr/>
          <p:nvPr/>
        </p:nvSpPr>
        <p:spPr bwMode="auto">
          <a:xfrm>
            <a:off x="0" y="6578600"/>
            <a:ext cx="12188952" cy="1270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0818842" name="TextBox 8"/>
          <p:cNvSpPr txBox="1"/>
          <p:nvPr/>
        </p:nvSpPr>
        <p:spPr bwMode="auto">
          <a:xfrm>
            <a:off x="320040" y="6604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ETE101  ·  CNAM  ·  Tzvetanka KARANOV, Jovial Bodenan BANGA et Alban VIDELOUP  ·  2026</a:t>
            </a:r>
            <a:endParaRPr/>
          </a:p>
        </p:txBody>
      </p:sp>
      <p:sp>
        <p:nvSpPr>
          <p:cNvPr id="102759461" name="TextBox 9"/>
          <p:cNvSpPr txBox="1"/>
          <p:nvPr/>
        </p:nvSpPr>
        <p:spPr bwMode="auto">
          <a:xfrm>
            <a:off x="8988552" y="6604000"/>
            <a:ext cx="3017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Numérique &amp; Néo-taylorisme</a:t>
            </a:r>
            <a:endParaRPr/>
          </a:p>
        </p:txBody>
      </p:sp>
      <p:sp>
        <p:nvSpPr>
          <p:cNvPr id="2135496290" name="Rounded Rectangle 10"/>
          <p:cNvSpPr/>
          <p:nvPr/>
        </p:nvSpPr>
        <p:spPr bwMode="auto">
          <a:xfrm>
            <a:off x="292608" y="1737360"/>
            <a:ext cx="5623560" cy="4434840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270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0946929" name="Rounded Rectangle 11"/>
          <p:cNvSpPr/>
          <p:nvPr/>
        </p:nvSpPr>
        <p:spPr bwMode="auto">
          <a:xfrm>
            <a:off x="292608" y="1737360"/>
            <a:ext cx="5623560" cy="50800"/>
          </a:xfrm>
          <a:prstGeom prst="roundRect">
            <a:avLst>
              <a:gd name="adj" fmla="val 16667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7615294" name="TextBox 12"/>
          <p:cNvSpPr txBox="1"/>
          <p:nvPr/>
        </p:nvSpPr>
        <p:spPr bwMode="auto">
          <a:xfrm>
            <a:off x="457200" y="1865376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FB923C"/>
                </a:solidFill>
                <a:latin typeface="Calibri"/>
              </a:rPr>
              <a:t>3 arguments</a:t>
            </a:r>
            <a:endParaRPr/>
          </a:p>
        </p:txBody>
      </p:sp>
      <p:sp>
        <p:nvSpPr>
          <p:cNvPr id="719985740" name="TextBox 13"/>
          <p:cNvSpPr txBox="1"/>
          <p:nvPr/>
        </p:nvSpPr>
        <p:spPr bwMode="auto">
          <a:xfrm>
            <a:off x="457200" y="2267712"/>
            <a:ext cx="5294376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① Saturation cognitive : le multitasking numérique fragilise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Notifications permanentes, outils qui se multiplient,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réunions en visio → fragmentation de l'attention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et dégradation de la qualité cognitive.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② Burn-out : progression alarmante depuis 2019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+25% de cas depuis 2019 (ANACT, 2023).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Cadres et professions intermédiaires les plus touchés.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La frontière vie pro / perso a disparu.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③ Pathologies physiques des cols blancs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Douleurs cervicales, syndrome des yeux secs,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troubles du sommeil liés aux écrans :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 corps du cadre subit l'intensification numérique.</a:t>
            </a:r>
            <a:endParaRPr/>
          </a:p>
        </p:txBody>
      </p:sp>
      <p:sp>
        <p:nvSpPr>
          <p:cNvPr id="107909725" name="Rounded Rectangle 14"/>
          <p:cNvSpPr/>
          <p:nvPr/>
        </p:nvSpPr>
        <p:spPr bwMode="auto">
          <a:xfrm>
            <a:off x="6263640" y="1737360"/>
            <a:ext cx="5623560" cy="4434840"/>
          </a:xfrm>
          <a:prstGeom prst="roundRect">
            <a:avLst>
              <a:gd name="adj" fmla="val 16667"/>
            </a:avLst>
          </a:prstGeom>
          <a:solidFill>
            <a:srgbClr val="1A2D47"/>
          </a:solidFill>
          <a:ln w="1270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1955705" name="Rounded Rectangle 15"/>
          <p:cNvSpPr/>
          <p:nvPr/>
        </p:nvSpPr>
        <p:spPr bwMode="auto">
          <a:xfrm>
            <a:off x="6263640" y="1737360"/>
            <a:ext cx="5623560" cy="5080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3460888" name="TextBox 16"/>
          <p:cNvSpPr txBox="1"/>
          <p:nvPr/>
        </p:nvSpPr>
        <p:spPr bwMode="auto">
          <a:xfrm>
            <a:off x="6428232" y="1865376"/>
            <a:ext cx="5294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1" i="0">
                <a:solidFill>
                  <a:srgbClr val="38BDF8"/>
                </a:solidFill>
                <a:latin typeface="Calibri"/>
              </a:rPr>
              <a:t>3 exemples</a:t>
            </a:r>
            <a:endParaRPr/>
          </a:p>
        </p:txBody>
      </p:sp>
      <p:sp>
        <p:nvSpPr>
          <p:cNvPr id="1873806442" name="TextBox 17"/>
          <p:cNvSpPr txBox="1"/>
          <p:nvPr/>
        </p:nvSpPr>
        <p:spPr bwMode="auto">
          <a:xfrm>
            <a:off x="6428232" y="2267712"/>
            <a:ext cx="5294376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① Modèle 'Emma' (Fellowes Research, 2019)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Modélisation de la 'collègue du futur' en 2040 :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dos voûté, yeux rouges, varices, surpoids.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Portrait clinique de l'usure numérique intensive.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② Perez &amp; Coutrot — Redonner du sens (Seuil, 2022)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La quête de sens = 1ère aspiration des salariés français.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 néo-taylorisme numérique est précisément ce qui la détruit.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30% des salariés perçoivent leur travail comme 'inutile'.</a:t>
            </a:r>
            <a:endParaRPr/>
          </a:p>
          <a:p>
            <a:pPr>
              <a:spcBef>
                <a:spcPts val="500"/>
              </a:spcBef>
              <a:defRPr/>
            </a:pP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③ ANACT — Rapport conditions de travail 2023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+25% de burn-out depuis 2019.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L'hyperconnexion, les réunions post-18h,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250">
                <a:solidFill>
                  <a:srgbClr val="CBD5E1"/>
                </a:solidFill>
                <a:latin typeface="Calibri"/>
              </a:rPr>
              <a:t>le 'droit à la déconnexion' ignoré.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7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522061" name="Oval 1"/>
          <p:cNvSpPr/>
          <p:nvPr/>
        </p:nvSpPr>
        <p:spPr bwMode="auto">
          <a:xfrm>
            <a:off x="-6400800" y="457200"/>
            <a:ext cx="12801600" cy="12801600"/>
          </a:xfrm>
          <a:prstGeom prst="ellipse">
            <a:avLst/>
          </a:prstGeom>
          <a:solidFill>
            <a:srgbClr val="38BDF8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90473986" name="Oval 2"/>
          <p:cNvSpPr/>
          <p:nvPr/>
        </p:nvSpPr>
        <p:spPr bwMode="auto">
          <a:xfrm>
            <a:off x="-1828800" y="2286000"/>
            <a:ext cx="7315200" cy="7315200"/>
          </a:xfrm>
          <a:prstGeom prst="ellipse">
            <a:avLst/>
          </a:prstGeom>
          <a:solidFill>
            <a:srgbClr val="4ADE80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9836019" name="Oval 3"/>
          <p:cNvSpPr/>
          <p:nvPr/>
        </p:nvSpPr>
        <p:spPr bwMode="auto">
          <a:xfrm>
            <a:off x="7616952" y="-4572000"/>
            <a:ext cx="9144000" cy="9144000"/>
          </a:xfrm>
          <a:prstGeom prst="ellipse">
            <a:avLst/>
          </a:prstGeom>
          <a:solidFill>
            <a:srgbClr val="7C3AED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30560320" name="Rounded Rectangle 4"/>
          <p:cNvSpPr/>
          <p:nvPr/>
        </p:nvSpPr>
        <p:spPr bwMode="auto">
          <a:xfrm>
            <a:off x="320040" y="182880"/>
            <a:ext cx="2103120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3354797" name="TextBox 5"/>
          <p:cNvSpPr txBox="1"/>
          <p:nvPr/>
        </p:nvSpPr>
        <p:spPr bwMode="auto">
          <a:xfrm>
            <a:off x="347472" y="2011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100" b="1" i="0">
                <a:solidFill>
                  <a:srgbClr val="FFFFFF"/>
                </a:solidFill>
                <a:latin typeface="Calibri"/>
              </a:rPr>
              <a:t>FOCUS  THÉORIQUE</a:t>
            </a:r>
            <a:endParaRPr/>
          </a:p>
        </p:txBody>
      </p:sp>
      <p:sp>
        <p:nvSpPr>
          <p:cNvPr id="1590700935" name="Rectangle 6"/>
          <p:cNvSpPr/>
          <p:nvPr/>
        </p:nvSpPr>
        <p:spPr bwMode="auto">
          <a:xfrm>
            <a:off x="292608" y="731520"/>
            <a:ext cx="54864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9009401" name="TextBox 7"/>
          <p:cNvSpPr txBox="1"/>
          <p:nvPr/>
        </p:nvSpPr>
        <p:spPr bwMode="auto">
          <a:xfrm>
            <a:off x="530352" y="7315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FFFFFF"/>
                </a:solidFill>
                <a:latin typeface="Calibri Light"/>
              </a:rPr>
              <a:t>Jeremy Rifkin  —  La Fin du Travail  (1995)</a:t>
            </a:r>
            <a:endParaRPr/>
          </a:p>
        </p:txBody>
      </p:sp>
      <p:sp>
        <p:nvSpPr>
          <p:cNvPr id="2029677116" name="Rounded Rectangle 8"/>
          <p:cNvSpPr/>
          <p:nvPr/>
        </p:nvSpPr>
        <p:spPr bwMode="auto">
          <a:xfrm>
            <a:off x="320040" y="1554480"/>
            <a:ext cx="11567160" cy="804672"/>
          </a:xfrm>
          <a:prstGeom prst="roundRect">
            <a:avLst>
              <a:gd name="adj" fmla="val 16667"/>
            </a:avLst>
          </a:prstGeom>
          <a:solidFill>
            <a:srgbClr val="0A1422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6458790" name="Rectangle 9"/>
          <p:cNvSpPr/>
          <p:nvPr/>
        </p:nvSpPr>
        <p:spPr bwMode="auto">
          <a:xfrm>
            <a:off x="320040" y="1554480"/>
            <a:ext cx="64008" cy="8046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5107823" name="TextBox 10"/>
          <p:cNvSpPr txBox="1"/>
          <p:nvPr/>
        </p:nvSpPr>
        <p:spPr bwMode="auto">
          <a:xfrm>
            <a:off x="548640" y="162763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50" b="0" i="1">
                <a:solidFill>
                  <a:srgbClr val="CBD5E1"/>
                </a:solidFill>
                <a:latin typeface="Calibri Light"/>
              </a:rPr>
              <a:t>« L'IA n'est pas seulement un outil de productivité : c'est l'aboutissement de la transition prévue par Rifkin — le passage du travail-effort au travail-donnée. »</a:t>
            </a:r>
            <a:endParaRPr/>
          </a:p>
        </p:txBody>
      </p:sp>
      <p:sp>
        <p:nvSpPr>
          <p:cNvPr id="446764338" name="Rounded Rectangle 11"/>
          <p:cNvSpPr/>
          <p:nvPr/>
        </p:nvSpPr>
        <p:spPr bwMode="auto">
          <a:xfrm>
            <a:off x="292608" y="2487168"/>
            <a:ext cx="3858768" cy="4160519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905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5799307" name="Rectangle 12"/>
          <p:cNvSpPr/>
          <p:nvPr/>
        </p:nvSpPr>
        <p:spPr bwMode="auto">
          <a:xfrm>
            <a:off x="292608" y="2487168"/>
            <a:ext cx="3858768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5424618" name="TextBox 13"/>
          <p:cNvSpPr txBox="1"/>
          <p:nvPr/>
        </p:nvSpPr>
        <p:spPr bwMode="auto">
          <a:xfrm>
            <a:off x="457200" y="2587752"/>
            <a:ext cx="3529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1" i="0">
                <a:solidFill>
                  <a:srgbClr val="4ADE80"/>
                </a:solidFill>
                <a:latin typeface="Calibri"/>
              </a:rPr>
              <a:t>Substitution du Capital</a:t>
            </a:r>
            <a:endParaRPr/>
          </a:p>
        </p:txBody>
      </p:sp>
      <p:sp>
        <p:nvSpPr>
          <p:cNvPr id="922621438" name="TextBox 14"/>
          <p:cNvSpPr txBox="1"/>
          <p:nvPr/>
        </p:nvSpPr>
        <p:spPr bwMode="auto">
          <a:xfrm>
            <a:off x="457200" y="3090672"/>
            <a:ext cx="352958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sz="1200">
                <a:solidFill>
                  <a:srgbClr val="CBD5E1"/>
                </a:solidFill>
                <a:latin typeface="Calibri"/>
              </a:rPr>
              <a:t>Rifkin (1995) : le capital technologique remplace</a:t>
            </a:r>
            <a:endParaRPr/>
          </a:p>
          <a:p>
            <a:pPr>
              <a:spcBef>
                <a:spcPts val="300"/>
              </a:spcBef>
              <a:defRPr/>
            </a:pPr>
            <a:r>
              <a:rPr sz="1200">
                <a:solidFill>
                  <a:srgbClr val="CBD5E1"/>
                </a:solidFill>
                <a:latin typeface="Calibri"/>
              </a:rPr>
              <a:t>massivement le travail humain.</a:t>
            </a:r>
            <a:endParaRPr/>
          </a:p>
          <a:p>
            <a:pPr>
              <a:spcBef>
                <a:spcPts val="300"/>
              </a:spcBef>
              <a:defRPr/>
            </a:pPr>
            <a:r>
              <a:rPr sz="1200">
                <a:solidFill>
                  <a:srgbClr val="CBD5E1"/>
                </a:solidFill>
                <a:latin typeface="Calibri"/>
              </a:rPr>
              <a:t>Contrairement aux révolutions précédentes,</a:t>
            </a:r>
            <a:endParaRPr/>
          </a:p>
          <a:p>
            <a:pPr>
              <a:spcBef>
                <a:spcPts val="300"/>
              </a:spcBef>
              <a:defRPr/>
            </a:pPr>
            <a:r>
              <a:rPr sz="1200">
                <a:solidFill>
                  <a:srgbClr val="CBD5E1"/>
                </a:solidFill>
                <a:latin typeface="Calibri"/>
              </a:rPr>
              <a:t>les nouveaux secteurs ne créent plus assez</a:t>
            </a:r>
            <a:endParaRPr/>
          </a:p>
          <a:p>
            <a:pPr>
              <a:spcBef>
                <a:spcPts val="300"/>
              </a:spcBef>
              <a:defRPr/>
            </a:pPr>
            <a:r>
              <a:rPr sz="1200">
                <a:solidFill>
                  <a:srgbClr val="CBD5E1"/>
                </a:solidFill>
                <a:latin typeface="Calibri"/>
              </a:rPr>
              <a:t>d'emplois pour compenser les pertes.</a:t>
            </a:r>
            <a:endParaRPr/>
          </a:p>
          <a:p>
            <a:pPr>
              <a:spcBef>
                <a:spcPts val="300"/>
              </a:spcBef>
              <a:defRPr/>
            </a:pPr>
            <a:endParaRPr/>
          </a:p>
          <a:p>
            <a:pPr>
              <a:spcBef>
                <a:spcPts val="300"/>
              </a:spcBef>
              <a:defRPr/>
            </a:pPr>
            <a:r>
              <a:rPr sz="1200">
                <a:solidFill>
                  <a:srgbClr val="CBD5E1"/>
                </a:solidFill>
                <a:latin typeface="Calibri"/>
              </a:rPr>
              <a:t>→ Logistique : le robot remplace le préparateur</a:t>
            </a:r>
            <a:endParaRPr/>
          </a:p>
          <a:p>
            <a:pPr>
              <a:spcBef>
                <a:spcPts val="300"/>
              </a:spcBef>
              <a:defRPr/>
            </a:pPr>
            <a:r>
              <a:rPr sz="1200">
                <a:solidFill>
                  <a:srgbClr val="CBD5E1"/>
                </a:solidFill>
                <a:latin typeface="Calibri"/>
              </a:rPr>
              <a:t>→ IA : l'algorithme remplace le cadre</a:t>
            </a:r>
            <a:endParaRPr/>
          </a:p>
        </p:txBody>
      </p:sp>
      <p:sp>
        <p:nvSpPr>
          <p:cNvPr id="1731973754" name="Rounded Rectangle 15"/>
          <p:cNvSpPr/>
          <p:nvPr/>
        </p:nvSpPr>
        <p:spPr bwMode="auto">
          <a:xfrm>
            <a:off x="4261104" y="2487168"/>
            <a:ext cx="3858768" cy="4160519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905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8660428" name="Rectangle 16"/>
          <p:cNvSpPr/>
          <p:nvPr/>
        </p:nvSpPr>
        <p:spPr bwMode="auto">
          <a:xfrm>
            <a:off x="4261104" y="2487168"/>
            <a:ext cx="3858768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76159367" name="TextBox 17"/>
          <p:cNvSpPr txBox="1"/>
          <p:nvPr/>
        </p:nvSpPr>
        <p:spPr bwMode="auto">
          <a:xfrm>
            <a:off x="4425696" y="2587752"/>
            <a:ext cx="3529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1" i="0">
                <a:solidFill>
                  <a:srgbClr val="38BDF8"/>
                </a:solidFill>
                <a:latin typeface="Calibri"/>
              </a:rPr>
              <a:t>Coût Marginal Zéro</a:t>
            </a:r>
            <a:endParaRPr/>
          </a:p>
        </p:txBody>
      </p:sp>
      <p:sp>
        <p:nvSpPr>
          <p:cNvPr id="1129094267" name="TextBox 18"/>
          <p:cNvSpPr txBox="1"/>
          <p:nvPr/>
        </p:nvSpPr>
        <p:spPr bwMode="auto">
          <a:xfrm>
            <a:off x="4425696" y="3090672"/>
            <a:ext cx="352958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sz="1200">
                <a:solidFill>
                  <a:srgbClr val="CBD5E1"/>
                </a:solidFill>
                <a:latin typeface="Calibri"/>
              </a:rPr>
              <a:t>La productivité numérique tend à réduire le coût</a:t>
            </a:r>
            <a:endParaRPr/>
          </a:p>
          <a:p>
            <a:pPr>
              <a:spcBef>
                <a:spcPts val="300"/>
              </a:spcBef>
              <a:defRPr/>
            </a:pPr>
            <a:r>
              <a:rPr sz="1200">
                <a:solidFill>
                  <a:srgbClr val="CBD5E1"/>
                </a:solidFill>
                <a:latin typeface="Calibri"/>
              </a:rPr>
              <a:t>de production à presque zéro.</a:t>
            </a:r>
            <a:endParaRPr/>
          </a:p>
          <a:p>
            <a:pPr>
              <a:spcBef>
                <a:spcPts val="300"/>
              </a:spcBef>
              <a:defRPr/>
            </a:pPr>
            <a:r>
              <a:rPr sz="1200">
                <a:solidFill>
                  <a:srgbClr val="CBD5E1"/>
                </a:solidFill>
                <a:latin typeface="Calibri"/>
              </a:rPr>
              <a:t>Cela fragilise le modèle du salariat traditionnel</a:t>
            </a:r>
            <a:endParaRPr/>
          </a:p>
          <a:p>
            <a:pPr>
              <a:spcBef>
                <a:spcPts val="300"/>
              </a:spcBef>
              <a:defRPr/>
            </a:pPr>
            <a:r>
              <a:rPr sz="1200">
                <a:solidFill>
                  <a:srgbClr val="CBD5E1"/>
                </a:solidFill>
                <a:latin typeface="Calibri"/>
              </a:rPr>
              <a:t>au profit d'une économie collaborative... ou précaire.</a:t>
            </a:r>
            <a:endParaRPr/>
          </a:p>
          <a:p>
            <a:pPr>
              <a:spcBef>
                <a:spcPts val="300"/>
              </a:spcBef>
              <a:defRPr/>
            </a:pPr>
            <a:endParaRPr/>
          </a:p>
          <a:p>
            <a:pPr>
              <a:spcBef>
                <a:spcPts val="300"/>
              </a:spcBef>
              <a:defRPr/>
            </a:pPr>
            <a:r>
              <a:rPr sz="1200">
                <a:solidFill>
                  <a:srgbClr val="CBD5E1"/>
                </a:solidFill>
                <a:latin typeface="Calibri"/>
              </a:rPr>
              <a:t>→ Uber : coût marginal zéro pour la plateforme</a:t>
            </a:r>
            <a:endParaRPr/>
          </a:p>
          <a:p>
            <a:pPr>
              <a:spcBef>
                <a:spcPts val="300"/>
              </a:spcBef>
              <a:defRPr/>
            </a:pPr>
            <a:r>
              <a:rPr sz="1200">
                <a:solidFill>
                  <a:srgbClr val="CBD5E1"/>
                </a:solidFill>
                <a:latin typeface="Calibri"/>
              </a:rPr>
              <a:t>  (les risques sont sur le livreur)</a:t>
            </a:r>
            <a:endParaRPr/>
          </a:p>
          <a:p>
            <a:pPr>
              <a:spcBef>
                <a:spcPts val="300"/>
              </a:spcBef>
              <a:defRPr/>
            </a:pPr>
            <a:r>
              <a:rPr sz="1200">
                <a:solidFill>
                  <a:srgbClr val="CBD5E1"/>
                </a:solidFill>
                <a:latin typeface="Calibri"/>
              </a:rPr>
              <a:t>→ Le travailleur finance sa propre exploitation</a:t>
            </a:r>
            <a:endParaRPr/>
          </a:p>
        </p:txBody>
      </p:sp>
      <p:sp>
        <p:nvSpPr>
          <p:cNvPr id="90582644" name="Rounded Rectangle 19"/>
          <p:cNvSpPr/>
          <p:nvPr/>
        </p:nvSpPr>
        <p:spPr bwMode="auto">
          <a:xfrm>
            <a:off x="8229600" y="2487168"/>
            <a:ext cx="3858768" cy="4160519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905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1265230" name="Rectangle 20"/>
          <p:cNvSpPr/>
          <p:nvPr/>
        </p:nvSpPr>
        <p:spPr bwMode="auto">
          <a:xfrm>
            <a:off x="8229600" y="2487168"/>
            <a:ext cx="3858768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7730570" name="TextBox 21"/>
          <p:cNvSpPr txBox="1"/>
          <p:nvPr/>
        </p:nvSpPr>
        <p:spPr bwMode="auto">
          <a:xfrm>
            <a:off x="8394192" y="2587752"/>
            <a:ext cx="3529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600" b="1" i="0">
                <a:solidFill>
                  <a:srgbClr val="7C3AED"/>
                </a:solidFill>
                <a:latin typeface="Calibri"/>
              </a:rPr>
              <a:t>Le Tiers-Secteur</a:t>
            </a:r>
            <a:endParaRPr/>
          </a:p>
        </p:txBody>
      </p:sp>
      <p:sp>
        <p:nvSpPr>
          <p:cNvPr id="759428797" name="TextBox 22"/>
          <p:cNvSpPr txBox="1"/>
          <p:nvPr/>
        </p:nvSpPr>
        <p:spPr bwMode="auto">
          <a:xfrm>
            <a:off x="8394192" y="3090672"/>
            <a:ext cx="352958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/>
            </a:pPr>
            <a:r>
              <a:rPr sz="1200">
                <a:solidFill>
                  <a:srgbClr val="CBD5E1"/>
                </a:solidFill>
                <a:latin typeface="Calibri"/>
              </a:rPr>
              <a:t>Rifkin propose un tiers-secteur (économie sociale</a:t>
            </a:r>
            <a:endParaRPr/>
          </a:p>
          <a:p>
            <a:pPr>
              <a:spcBef>
                <a:spcPts val="300"/>
              </a:spcBef>
              <a:defRPr/>
            </a:pPr>
            <a:r>
              <a:rPr sz="1200">
                <a:solidFill>
                  <a:srgbClr val="CBD5E1"/>
                </a:solidFill>
                <a:latin typeface="Calibri"/>
              </a:rPr>
              <a:t>et solidaire) pour réabsorber les travailleurs déplacés.</a:t>
            </a:r>
            <a:endParaRPr/>
          </a:p>
          <a:p>
            <a:pPr>
              <a:spcBef>
                <a:spcPts val="300"/>
              </a:spcBef>
              <a:defRPr/>
            </a:pPr>
            <a:endParaRPr/>
          </a:p>
          <a:p>
            <a:pPr>
              <a:spcBef>
                <a:spcPts val="300"/>
              </a:spcBef>
              <a:defRPr/>
            </a:pPr>
            <a:r>
              <a:rPr sz="1200">
                <a:solidFill>
                  <a:srgbClr val="CBD5E1"/>
                </a:solidFill>
                <a:latin typeface="Calibri"/>
              </a:rPr>
              <a:t>→ Revenu universel de base comme réponse</a:t>
            </a:r>
            <a:endParaRPr/>
          </a:p>
          <a:p>
            <a:pPr>
              <a:spcBef>
                <a:spcPts val="300"/>
              </a:spcBef>
              <a:defRPr/>
            </a:pPr>
            <a:r>
              <a:rPr sz="1200">
                <a:solidFill>
                  <a:srgbClr val="CBD5E1"/>
                </a:solidFill>
                <a:latin typeface="Calibri"/>
              </a:rPr>
              <a:t>→ Taxation du travail algorithmique ('robot tax')</a:t>
            </a:r>
            <a:endParaRPr/>
          </a:p>
          <a:p>
            <a:pPr>
              <a:spcBef>
                <a:spcPts val="300"/>
              </a:spcBef>
              <a:defRPr/>
            </a:pPr>
            <a:r>
              <a:rPr sz="1200">
                <a:solidFill>
                  <a:srgbClr val="CBD5E1"/>
                </a:solidFill>
                <a:latin typeface="Calibri"/>
              </a:rPr>
              <a:t>→ Débat toujours ouvert 30 ans plus tard</a:t>
            </a:r>
            <a:endParaRPr/>
          </a:p>
          <a:p>
            <a:pPr>
              <a:spcBef>
                <a:spcPts val="300"/>
              </a:spcBef>
              <a:defRPr/>
            </a:pPr>
            <a:endParaRPr/>
          </a:p>
          <a:p>
            <a:pPr>
              <a:spcBef>
                <a:spcPts val="300"/>
              </a:spcBef>
              <a:defRPr/>
            </a:pPr>
            <a:r>
              <a:rPr sz="1200">
                <a:solidFill>
                  <a:srgbClr val="CBD5E1"/>
                </a:solidFill>
                <a:latin typeface="Calibri"/>
              </a:rPr>
              <a:t>Rifkin = prophète ou utopiste ?</a:t>
            </a:r>
            <a:endParaRPr/>
          </a:p>
        </p:txBody>
      </p:sp>
      <p:sp>
        <p:nvSpPr>
          <p:cNvPr id="998985816" name="Rectangle 23"/>
          <p:cNvSpPr/>
          <p:nvPr/>
        </p:nvSpPr>
        <p:spPr bwMode="auto">
          <a:xfrm>
            <a:off x="0" y="6578600"/>
            <a:ext cx="12188952" cy="1270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006673" name="TextBox 24"/>
          <p:cNvSpPr txBox="1"/>
          <p:nvPr/>
        </p:nvSpPr>
        <p:spPr bwMode="auto">
          <a:xfrm>
            <a:off x="320040" y="6604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ETE101  ·  CNAM  ·  Tzvetanka KARANOV, Jovial Bodenan BANGA et Alban VIDELOUP  ·  2026</a:t>
            </a:r>
            <a:endParaRPr/>
          </a:p>
        </p:txBody>
      </p:sp>
      <p:sp>
        <p:nvSpPr>
          <p:cNvPr id="284924110" name="TextBox 25"/>
          <p:cNvSpPr txBox="1"/>
          <p:nvPr/>
        </p:nvSpPr>
        <p:spPr bwMode="auto">
          <a:xfrm>
            <a:off x="8988552" y="6604000"/>
            <a:ext cx="3017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Numérique &amp; Néo-taylorisme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7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937043" name="Oval 1"/>
          <p:cNvSpPr/>
          <p:nvPr/>
        </p:nvSpPr>
        <p:spPr bwMode="auto">
          <a:xfrm>
            <a:off x="-4572000" y="2286000"/>
            <a:ext cx="9144000" cy="9144000"/>
          </a:xfrm>
          <a:prstGeom prst="ellipse">
            <a:avLst/>
          </a:prstGeom>
          <a:solidFill>
            <a:srgbClr val="38BD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1790049" name="Rectangle 2"/>
          <p:cNvSpPr/>
          <p:nvPr/>
        </p:nvSpPr>
        <p:spPr bwMode="auto">
          <a:xfrm>
            <a:off x="292608" y="685800"/>
            <a:ext cx="54864" cy="5669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13865250" name="TextBox 3"/>
          <p:cNvSpPr txBox="1"/>
          <p:nvPr/>
        </p:nvSpPr>
        <p:spPr bwMode="auto">
          <a:xfrm>
            <a:off x="502920" y="685800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 Light"/>
              </a:rPr>
              <a:t>Conclusion  —  Synthèse : trois visages d'une même aliénation</a:t>
            </a:r>
            <a:endParaRPr/>
          </a:p>
        </p:txBody>
      </p:sp>
      <p:sp>
        <p:nvSpPr>
          <p:cNvPr id="1857109599" name="Rectangle 4"/>
          <p:cNvSpPr/>
          <p:nvPr/>
        </p:nvSpPr>
        <p:spPr bwMode="auto">
          <a:xfrm>
            <a:off x="0" y="6578600"/>
            <a:ext cx="12188952" cy="1270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7552942" name="TextBox 5"/>
          <p:cNvSpPr txBox="1"/>
          <p:nvPr/>
        </p:nvSpPr>
        <p:spPr bwMode="auto">
          <a:xfrm>
            <a:off x="320040" y="6604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ETE101  ·  CNAM  ·  Tzvetanka KARANOV, Jovial Bodenan BANGA et Alban VIDELOUP  ·  2026</a:t>
            </a:r>
            <a:endParaRPr/>
          </a:p>
        </p:txBody>
      </p:sp>
      <p:sp>
        <p:nvSpPr>
          <p:cNvPr id="481378916" name="TextBox 6"/>
          <p:cNvSpPr txBox="1"/>
          <p:nvPr/>
        </p:nvSpPr>
        <p:spPr bwMode="auto">
          <a:xfrm>
            <a:off x="8988552" y="6604000"/>
            <a:ext cx="3017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Numérique &amp; Néo-taylorisme</a:t>
            </a:r>
            <a:endParaRPr/>
          </a:p>
        </p:txBody>
      </p:sp>
      <p:sp>
        <p:nvSpPr>
          <p:cNvPr id="1731765508" name="Rounded Rectangle 7"/>
          <p:cNvSpPr/>
          <p:nvPr/>
        </p:nvSpPr>
        <p:spPr bwMode="auto">
          <a:xfrm>
            <a:off x="201168" y="1463040"/>
            <a:ext cx="3886200" cy="3474720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905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4462825" name="Rectangle 8"/>
          <p:cNvSpPr/>
          <p:nvPr/>
        </p:nvSpPr>
        <p:spPr bwMode="auto">
          <a:xfrm>
            <a:off x="201168" y="1463040"/>
            <a:ext cx="3886200" cy="635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55500474" name="TextBox 9"/>
          <p:cNvSpPr txBox="1"/>
          <p:nvPr/>
        </p:nvSpPr>
        <p:spPr bwMode="auto">
          <a:xfrm>
            <a:off x="365760" y="1572768"/>
            <a:ext cx="3557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4ADE80"/>
                </a:solidFill>
                <a:latin typeface="Calibri"/>
              </a:rPr>
              <a:t>I — L'entrepôt</a:t>
            </a:r>
            <a:endParaRPr/>
          </a:p>
        </p:txBody>
      </p:sp>
      <p:sp>
        <p:nvSpPr>
          <p:cNvPr id="1979842645" name="TextBox 10"/>
          <p:cNvSpPr txBox="1"/>
          <p:nvPr/>
        </p:nvSpPr>
        <p:spPr bwMode="auto">
          <a:xfrm>
            <a:off x="365760" y="2103120"/>
            <a:ext cx="355701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50" b="0" i="0">
                <a:solidFill>
                  <a:srgbClr val="CBD5E1"/>
                </a:solidFill>
                <a:latin typeface="Calibri"/>
              </a:rPr>
              <a:t>Voice-picking, WMS, KPI en temps réel.</a:t>
            </a:r>
            <a:br>
              <a:rPr sz="1250" b="0" i="0">
                <a:solidFill>
                  <a:srgbClr val="CBD5E1"/>
                </a:solidFill>
                <a:latin typeface="Calibri"/>
              </a:rPr>
            </a:br>
            <a:r>
              <a:rPr sz="1250" b="0" i="0">
                <a:solidFill>
                  <a:srgbClr val="CBD5E1"/>
                </a:solidFill>
                <a:latin typeface="Calibri"/>
              </a:rPr>
              <a:t>Le corps soumis au rythme de l'algorithme.</a:t>
            </a:r>
            <a:br>
              <a:rPr sz="1250" b="0" i="0">
                <a:solidFill>
                  <a:srgbClr val="CBD5E1"/>
                </a:solidFill>
                <a:latin typeface="Calibri"/>
              </a:rPr>
            </a:br>
            <a:r>
              <a:rPr sz="1250" b="0" i="0">
                <a:solidFill>
                  <a:srgbClr val="CBD5E1"/>
                </a:solidFill>
                <a:latin typeface="Calibri"/>
              </a:rPr>
              <a:t>Déqualification, précarisation, TMS.</a:t>
            </a:r>
            <a:br>
              <a:rPr sz="1250" b="0" i="0">
                <a:solidFill>
                  <a:srgbClr val="CBD5E1"/>
                </a:solidFill>
                <a:latin typeface="Calibri"/>
              </a:rPr>
            </a:br>
            <a:r>
              <a:rPr sz="1250" b="0" i="0">
                <a:solidFill>
                  <a:srgbClr val="CBD5E1"/>
                </a:solidFill>
                <a:latin typeface="Calibri"/>
              </a:rPr>
              <a:t>Gautié &amp; Perez, Barbier et al.</a:t>
            </a:r>
            <a:endParaRPr/>
          </a:p>
        </p:txBody>
      </p:sp>
      <p:sp>
        <p:nvSpPr>
          <p:cNvPr id="719849826" name="Rounded Rectangle 11"/>
          <p:cNvSpPr/>
          <p:nvPr/>
        </p:nvSpPr>
        <p:spPr bwMode="auto">
          <a:xfrm>
            <a:off x="4197096" y="1463040"/>
            <a:ext cx="3886200" cy="3474720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905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5038896" name="Rectangle 12"/>
          <p:cNvSpPr/>
          <p:nvPr/>
        </p:nvSpPr>
        <p:spPr bwMode="auto">
          <a:xfrm>
            <a:off x="4197096" y="1463040"/>
            <a:ext cx="3886200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4728798" name="TextBox 13"/>
          <p:cNvSpPr txBox="1"/>
          <p:nvPr/>
        </p:nvSpPr>
        <p:spPr bwMode="auto">
          <a:xfrm>
            <a:off x="4361688" y="1572768"/>
            <a:ext cx="3557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38BDF8"/>
                </a:solidFill>
                <a:latin typeface="Calibri"/>
              </a:rPr>
              <a:t>II — Les plateformes</a:t>
            </a:r>
            <a:endParaRPr/>
          </a:p>
        </p:txBody>
      </p:sp>
      <p:sp>
        <p:nvSpPr>
          <p:cNvPr id="1040658128" name="TextBox 14"/>
          <p:cNvSpPr txBox="1"/>
          <p:nvPr/>
        </p:nvSpPr>
        <p:spPr bwMode="auto">
          <a:xfrm>
            <a:off x="4361688" y="2103120"/>
            <a:ext cx="355701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50" b="0" i="0">
                <a:solidFill>
                  <a:srgbClr val="CBD5E1"/>
                </a:solidFill>
                <a:latin typeface="Calibri"/>
              </a:rPr>
              <a:t>Subordination sans statut, licenciement par déconnexion.</a:t>
            </a:r>
            <a:br>
              <a:rPr sz="1250" b="0" i="0">
                <a:solidFill>
                  <a:srgbClr val="CBD5E1"/>
                </a:solidFill>
                <a:latin typeface="Calibri"/>
              </a:rPr>
            </a:br>
            <a:r>
              <a:rPr sz="1250" b="0" i="0">
                <a:solidFill>
                  <a:srgbClr val="CBD5E1"/>
                </a:solidFill>
                <a:latin typeface="Calibri"/>
              </a:rPr>
              <a:t>3€/h net, 63h/semaine, 59% d'accidents.</a:t>
            </a:r>
            <a:br>
              <a:rPr sz="1250" b="0" i="0">
                <a:solidFill>
                  <a:srgbClr val="CBD5E1"/>
                </a:solidFill>
                <a:latin typeface="Calibri"/>
              </a:rPr>
            </a:br>
            <a:r>
              <a:rPr sz="1250" b="0" i="0">
                <a:solidFill>
                  <a:srgbClr val="CBD5E1"/>
                </a:solidFill>
                <a:latin typeface="Calibri"/>
              </a:rPr>
              <a:t>Public Sénat, Médecins du Monde, Directive EU 2024.</a:t>
            </a:r>
            <a:endParaRPr/>
          </a:p>
        </p:txBody>
      </p:sp>
      <p:sp>
        <p:nvSpPr>
          <p:cNvPr id="2134600280" name="Rounded Rectangle 15"/>
          <p:cNvSpPr/>
          <p:nvPr/>
        </p:nvSpPr>
        <p:spPr bwMode="auto">
          <a:xfrm>
            <a:off x="8193024" y="1463040"/>
            <a:ext cx="3886200" cy="3474720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905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6817530" name="Rectangle 16"/>
          <p:cNvSpPr/>
          <p:nvPr/>
        </p:nvSpPr>
        <p:spPr bwMode="auto">
          <a:xfrm>
            <a:off x="8193024" y="1463040"/>
            <a:ext cx="3886200" cy="635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640837" name="TextBox 17"/>
          <p:cNvSpPr txBox="1"/>
          <p:nvPr/>
        </p:nvSpPr>
        <p:spPr bwMode="auto">
          <a:xfrm>
            <a:off x="8357616" y="1572768"/>
            <a:ext cx="355701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FB923C"/>
                </a:solidFill>
                <a:latin typeface="Calibri"/>
              </a:rPr>
              <a:t>III — Les cadres</a:t>
            </a:r>
            <a:endParaRPr/>
          </a:p>
        </p:txBody>
      </p:sp>
      <p:sp>
        <p:nvSpPr>
          <p:cNvPr id="932878444" name="TextBox 18"/>
          <p:cNvSpPr txBox="1"/>
          <p:nvPr/>
        </p:nvSpPr>
        <p:spPr bwMode="auto">
          <a:xfrm>
            <a:off x="8357616" y="2103120"/>
            <a:ext cx="355701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50" b="0" i="0">
                <a:solidFill>
                  <a:srgbClr val="CBD5E1"/>
                </a:solidFill>
                <a:latin typeface="Calibri"/>
              </a:rPr>
              <a:t>Standardisation du travail intellectuel.</a:t>
            </a:r>
            <a:br>
              <a:rPr sz="1250" b="0" i="0">
                <a:solidFill>
                  <a:srgbClr val="CBD5E1"/>
                </a:solidFill>
                <a:latin typeface="Calibri"/>
              </a:rPr>
            </a:br>
            <a:r>
              <a:rPr sz="1250" b="0" i="0">
                <a:solidFill>
                  <a:srgbClr val="CBD5E1"/>
                </a:solidFill>
                <a:latin typeface="Calibri"/>
              </a:rPr>
              <a:t>KPI contradictoires, qualité empêchée.</a:t>
            </a:r>
            <a:br>
              <a:rPr sz="1250" b="0" i="0">
                <a:solidFill>
                  <a:srgbClr val="CBD5E1"/>
                </a:solidFill>
                <a:latin typeface="Calibri"/>
              </a:rPr>
            </a:br>
            <a:r>
              <a:rPr sz="1250" b="0" i="0">
                <a:solidFill>
                  <a:srgbClr val="CBD5E1"/>
                </a:solidFill>
                <a:latin typeface="Calibri"/>
              </a:rPr>
              <a:t>Burn-out +25%, saturation cognitive.</a:t>
            </a:r>
            <a:br>
              <a:rPr sz="1250" b="0" i="0">
                <a:solidFill>
                  <a:srgbClr val="CBD5E1"/>
                </a:solidFill>
                <a:latin typeface="Calibri"/>
              </a:rPr>
            </a:br>
            <a:r>
              <a:rPr sz="1250" b="0" i="0">
                <a:solidFill>
                  <a:srgbClr val="CBD5E1"/>
                </a:solidFill>
                <a:latin typeface="Calibri"/>
              </a:rPr>
              <a:t>Dujarier, Clot, Perez &amp; Coutrot.</a:t>
            </a:r>
            <a:endParaRPr/>
          </a:p>
        </p:txBody>
      </p:sp>
      <p:sp>
        <p:nvSpPr>
          <p:cNvPr id="1055000098" name="Rounded Rectangle 19"/>
          <p:cNvSpPr/>
          <p:nvPr/>
        </p:nvSpPr>
        <p:spPr bwMode="auto">
          <a:xfrm>
            <a:off x="292608" y="5120640"/>
            <a:ext cx="11612880" cy="1024128"/>
          </a:xfrm>
          <a:prstGeom prst="roundRect">
            <a:avLst>
              <a:gd name="adj" fmla="val 16667"/>
            </a:avLst>
          </a:prstGeom>
          <a:solidFill>
            <a:srgbClr val="0A1422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5170270" name="Rectangle 20"/>
          <p:cNvSpPr/>
          <p:nvPr/>
        </p:nvSpPr>
        <p:spPr bwMode="auto">
          <a:xfrm>
            <a:off x="292608" y="5120640"/>
            <a:ext cx="64008" cy="10241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19815393" name="TextBox 21"/>
          <p:cNvSpPr txBox="1"/>
          <p:nvPr/>
        </p:nvSpPr>
        <p:spPr bwMode="auto">
          <a:xfrm>
            <a:off x="502920" y="5166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7C3AED"/>
                </a:solidFill>
                <a:latin typeface="Calibri"/>
              </a:rPr>
              <a:t>Rifkin (1995) l'avait prévu</a:t>
            </a:r>
            <a:endParaRPr/>
          </a:p>
        </p:txBody>
      </p:sp>
      <p:sp>
        <p:nvSpPr>
          <p:cNvPr id="1360388137" name="TextBox 22"/>
          <p:cNvSpPr txBox="1"/>
          <p:nvPr/>
        </p:nvSpPr>
        <p:spPr bwMode="auto">
          <a:xfrm>
            <a:off x="502920" y="5504687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400" b="0" i="1">
                <a:solidFill>
                  <a:srgbClr val="CBD5E1"/>
                </a:solidFill>
                <a:latin typeface="Calibri Light"/>
              </a:rPr>
              <a:t>La technologie peut-elle être mise au service d'un « bon travail » (santé, sens, démocratie) plutôt que d'un simple calcul de flux ?  C'est le défi politique et social du XXIe siècle.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7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043413" name="Oval 1"/>
          <p:cNvSpPr/>
          <p:nvPr/>
        </p:nvSpPr>
        <p:spPr bwMode="auto">
          <a:xfrm>
            <a:off x="-5486400" y="1371600"/>
            <a:ext cx="10972800" cy="10972800"/>
          </a:xfrm>
          <a:prstGeom prst="ellipse">
            <a:avLst/>
          </a:prstGeom>
          <a:solidFill>
            <a:srgbClr val="38BDF8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6818188" name="Oval 2"/>
          <p:cNvSpPr/>
          <p:nvPr/>
        </p:nvSpPr>
        <p:spPr bwMode="auto">
          <a:xfrm>
            <a:off x="-1828800" y="1828800"/>
            <a:ext cx="7315200" cy="7315200"/>
          </a:xfrm>
          <a:prstGeom prst="ellipse">
            <a:avLst/>
          </a:prstGeom>
          <a:solidFill>
            <a:srgbClr val="4ADE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581066" name="Oval 3"/>
          <p:cNvSpPr/>
          <p:nvPr/>
        </p:nvSpPr>
        <p:spPr bwMode="auto">
          <a:xfrm>
            <a:off x="7616952" y="-4572000"/>
            <a:ext cx="9144000" cy="9144000"/>
          </a:xfrm>
          <a:prstGeom prst="ellipse">
            <a:avLst/>
          </a:prstGeom>
          <a:solidFill>
            <a:srgbClr val="7C3AED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96857238" name="TextBox 4"/>
          <p:cNvSpPr txBox="1"/>
          <p:nvPr/>
        </p:nvSpPr>
        <p:spPr bwMode="auto">
          <a:xfrm>
            <a:off x="365760" y="228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300" b="1" i="0">
                <a:solidFill>
                  <a:srgbClr val="C1002A"/>
                </a:solidFill>
                <a:latin typeface="Calibri"/>
              </a:rPr>
              <a:t>OUVERTURE</a:t>
            </a:r>
            <a:endParaRPr/>
          </a:p>
        </p:txBody>
      </p:sp>
      <p:sp>
        <p:nvSpPr>
          <p:cNvPr id="1832796974" name="TextBox 5"/>
          <p:cNvSpPr txBox="1"/>
          <p:nvPr/>
        </p:nvSpPr>
        <p:spPr bwMode="auto">
          <a:xfrm>
            <a:off x="365760" y="5486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FFFFFF"/>
                </a:solidFill>
                <a:latin typeface="Calibri Light"/>
              </a:rPr>
              <a:t>Les nouvelles frontières technologiques</a:t>
            </a:r>
            <a:endParaRPr/>
          </a:p>
        </p:txBody>
      </p:sp>
      <p:sp>
        <p:nvSpPr>
          <p:cNvPr id="1508979581" name="Rectangle 6"/>
          <p:cNvSpPr/>
          <p:nvPr/>
        </p:nvSpPr>
        <p:spPr bwMode="auto">
          <a:xfrm>
            <a:off x="4722876" y="1298448"/>
            <a:ext cx="27432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6417374" name="Rounded Rectangle 7"/>
          <p:cNvSpPr/>
          <p:nvPr/>
        </p:nvSpPr>
        <p:spPr bwMode="auto">
          <a:xfrm>
            <a:off x="201168" y="1508759"/>
            <a:ext cx="3886200" cy="4937760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0057745" name="Rectangle 8"/>
          <p:cNvSpPr/>
          <p:nvPr/>
        </p:nvSpPr>
        <p:spPr bwMode="auto">
          <a:xfrm>
            <a:off x="201168" y="1508759"/>
            <a:ext cx="388620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2102117" name="TextBox 9"/>
          <p:cNvSpPr txBox="1"/>
          <p:nvPr/>
        </p:nvSpPr>
        <p:spPr bwMode="auto">
          <a:xfrm>
            <a:off x="365760" y="1627632"/>
            <a:ext cx="35570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4ADE80"/>
                </a:solidFill>
                <a:latin typeface="Calibri"/>
              </a:rPr>
              <a:t>Intelligence</a:t>
            </a:r>
            <a:br>
              <a:rPr sz="1800" b="1" i="0">
                <a:solidFill>
                  <a:srgbClr val="4ADE80"/>
                </a:solidFill>
                <a:latin typeface="Calibri"/>
              </a:rPr>
            </a:br>
            <a:r>
              <a:rPr sz="1800" b="1" i="0">
                <a:solidFill>
                  <a:srgbClr val="4ADE80"/>
                </a:solidFill>
                <a:latin typeface="Calibri"/>
              </a:rPr>
              <a:t>Artificielle</a:t>
            </a:r>
            <a:br>
              <a:rPr sz="1800" b="1" i="0">
                <a:solidFill>
                  <a:srgbClr val="4ADE80"/>
                </a:solidFill>
                <a:latin typeface="Calibri"/>
              </a:rPr>
            </a:br>
            <a:r>
              <a:rPr sz="1800" b="1" i="0">
                <a:solidFill>
                  <a:srgbClr val="4ADE80"/>
                </a:solidFill>
                <a:latin typeface="Calibri"/>
              </a:rPr>
              <a:t>Générative</a:t>
            </a:r>
            <a:endParaRPr/>
          </a:p>
        </p:txBody>
      </p:sp>
      <p:sp>
        <p:nvSpPr>
          <p:cNvPr id="970605157" name="TextBox 10"/>
          <p:cNvSpPr txBox="1"/>
          <p:nvPr/>
        </p:nvSpPr>
        <p:spPr bwMode="auto">
          <a:xfrm>
            <a:off x="365760" y="2468880"/>
            <a:ext cx="35570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CBD5E1"/>
                </a:solidFill>
                <a:latin typeface="Calibri"/>
              </a:rPr>
              <a:t>GPT-4, Claude, Gemini…</a:t>
            </a:r>
            <a:br>
              <a:rPr sz="1200" b="0" i="0">
                <a:solidFill>
                  <a:srgbClr val="CBD5E1"/>
                </a:solidFill>
                <a:latin typeface="Calibri"/>
              </a:rPr>
            </a:br>
            <a:br>
              <a:rPr sz="1200" b="0" i="0">
                <a:solidFill>
                  <a:srgbClr val="CBD5E1"/>
                </a:solidFill>
                <a:latin typeface="Calibri"/>
              </a:rPr>
            </a:br>
            <a:r>
              <a:rPr sz="1200" b="0" i="0">
                <a:solidFill>
                  <a:srgbClr val="CBD5E1"/>
                </a:solidFill>
                <a:latin typeface="Calibri"/>
              </a:rPr>
              <a:t>• Déqualification des tâches intellectuelles complexes</a:t>
            </a:r>
            <a:br>
              <a:rPr sz="1200" b="0" i="0">
                <a:solidFill>
                  <a:srgbClr val="CBD5E1"/>
                </a:solidFill>
                <a:latin typeface="Calibri"/>
              </a:rPr>
            </a:br>
            <a:r>
              <a:rPr sz="1200" b="0" i="0">
                <a:solidFill>
                  <a:srgbClr val="CBD5E1"/>
                </a:solidFill>
                <a:latin typeface="Calibri"/>
              </a:rPr>
              <a:t>  (droit, médecine, code, rédaction)</a:t>
            </a:r>
            <a:br>
              <a:rPr sz="1200" b="0" i="0">
                <a:solidFill>
                  <a:srgbClr val="CBD5E1"/>
                </a:solidFill>
                <a:latin typeface="Calibri"/>
              </a:rPr>
            </a:br>
            <a:r>
              <a:rPr sz="1200" b="0" i="0">
                <a:solidFill>
                  <a:srgbClr val="CBD5E1"/>
                </a:solidFill>
                <a:latin typeface="Calibri"/>
              </a:rPr>
              <a:t>• Un algo 'pense' à la place du cadre</a:t>
            </a:r>
            <a:br>
              <a:rPr sz="1200" b="0" i="0">
                <a:solidFill>
                  <a:srgbClr val="CBD5E1"/>
                </a:solidFill>
                <a:latin typeface="Calibri"/>
              </a:rPr>
            </a:br>
            <a:r>
              <a:rPr sz="1200" b="0" i="0">
                <a:solidFill>
                  <a:srgbClr val="CBD5E1"/>
                </a:solidFill>
                <a:latin typeface="Calibri"/>
              </a:rPr>
              <a:t>• Le 'taylorisme cognitif' : l'IA prescrit,</a:t>
            </a:r>
            <a:br>
              <a:rPr sz="1200" b="0" i="0">
                <a:solidFill>
                  <a:srgbClr val="CBD5E1"/>
                </a:solidFill>
                <a:latin typeface="Calibri"/>
              </a:rPr>
            </a:br>
            <a:r>
              <a:rPr sz="1200" b="0" i="0">
                <a:solidFill>
                  <a:srgbClr val="CBD5E1"/>
                </a:solidFill>
                <a:latin typeface="Calibri"/>
              </a:rPr>
              <a:t>  l'humain valide</a:t>
            </a:r>
            <a:br>
              <a:rPr sz="1200" b="0" i="0">
                <a:solidFill>
                  <a:srgbClr val="CBD5E1"/>
                </a:solidFill>
                <a:latin typeface="Calibri"/>
              </a:rPr>
            </a:br>
            <a:br>
              <a:rPr sz="1200" b="0" i="0">
                <a:solidFill>
                  <a:srgbClr val="CBD5E1"/>
                </a:solidFill>
                <a:latin typeface="Calibri"/>
              </a:rPr>
            </a:br>
            <a:r>
              <a:rPr sz="1200" b="0" i="0">
                <a:solidFill>
                  <a:srgbClr val="CBD5E1"/>
                </a:solidFill>
                <a:latin typeface="Calibri"/>
              </a:rPr>
              <a:t>→ Rifkin : la 'fin du travail intellectuel' ?</a:t>
            </a:r>
            <a:endParaRPr/>
          </a:p>
        </p:txBody>
      </p:sp>
      <p:sp>
        <p:nvSpPr>
          <p:cNvPr id="1333534102" name="Rounded Rectangle 11"/>
          <p:cNvSpPr/>
          <p:nvPr/>
        </p:nvSpPr>
        <p:spPr bwMode="auto">
          <a:xfrm>
            <a:off x="4197096" y="1508759"/>
            <a:ext cx="3886200" cy="4937760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1381792" name="Rectangle 12"/>
          <p:cNvSpPr/>
          <p:nvPr/>
        </p:nvSpPr>
        <p:spPr bwMode="auto">
          <a:xfrm>
            <a:off x="4197096" y="1508759"/>
            <a:ext cx="38862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07374260" name="TextBox 13"/>
          <p:cNvSpPr txBox="1"/>
          <p:nvPr/>
        </p:nvSpPr>
        <p:spPr bwMode="auto">
          <a:xfrm>
            <a:off x="4361688" y="1627632"/>
            <a:ext cx="35570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38BDF8"/>
                </a:solidFill>
                <a:latin typeface="Calibri"/>
              </a:rPr>
              <a:t>Informatique</a:t>
            </a:r>
            <a:br>
              <a:rPr sz="1800" b="1" i="0">
                <a:solidFill>
                  <a:srgbClr val="38BDF8"/>
                </a:solidFill>
                <a:latin typeface="Calibri"/>
              </a:rPr>
            </a:br>
            <a:r>
              <a:rPr sz="1800" b="1" i="0">
                <a:solidFill>
                  <a:srgbClr val="38BDF8"/>
                </a:solidFill>
                <a:latin typeface="Calibri"/>
              </a:rPr>
              <a:t>Quantique</a:t>
            </a:r>
            <a:endParaRPr/>
          </a:p>
        </p:txBody>
      </p:sp>
      <p:sp>
        <p:nvSpPr>
          <p:cNvPr id="481511571" name="TextBox 14"/>
          <p:cNvSpPr txBox="1"/>
          <p:nvPr/>
        </p:nvSpPr>
        <p:spPr bwMode="auto">
          <a:xfrm>
            <a:off x="4361688" y="2468880"/>
            <a:ext cx="35570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CBD5E1"/>
                </a:solidFill>
                <a:latin typeface="Calibri"/>
              </a:rPr>
              <a:t>Optimisation à une échelle inimaginable</a:t>
            </a:r>
            <a:br>
              <a:rPr sz="1200" b="0" i="0">
                <a:solidFill>
                  <a:srgbClr val="CBD5E1"/>
                </a:solidFill>
                <a:latin typeface="Calibri"/>
              </a:rPr>
            </a:br>
            <a:br>
              <a:rPr sz="1200" b="0" i="0">
                <a:solidFill>
                  <a:srgbClr val="CBD5E1"/>
                </a:solidFill>
                <a:latin typeface="Calibri"/>
              </a:rPr>
            </a:br>
            <a:r>
              <a:rPr sz="1200" b="0" i="0">
                <a:solidFill>
                  <a:srgbClr val="CBD5E1"/>
                </a:solidFill>
                <a:latin typeface="Calibri"/>
              </a:rPr>
              <a:t>• Algorithmes d'optimisation de flux</a:t>
            </a:r>
            <a:br>
              <a:rPr sz="1200" b="0" i="0">
                <a:solidFill>
                  <a:srgbClr val="CBD5E1"/>
                </a:solidFill>
                <a:latin typeface="Calibri"/>
              </a:rPr>
            </a:br>
            <a:r>
              <a:rPr sz="1200" b="0" i="0">
                <a:solidFill>
                  <a:srgbClr val="CBD5E1"/>
                </a:solidFill>
                <a:latin typeface="Calibri"/>
              </a:rPr>
              <a:t>  portés à l'extrême</a:t>
            </a:r>
            <a:br>
              <a:rPr sz="1200" b="0" i="0">
                <a:solidFill>
                  <a:srgbClr val="CBD5E1"/>
                </a:solidFill>
                <a:latin typeface="Calibri"/>
              </a:rPr>
            </a:br>
            <a:r>
              <a:rPr sz="1200" b="0" i="0">
                <a:solidFill>
                  <a:srgbClr val="CBD5E1"/>
                </a:solidFill>
                <a:latin typeface="Calibri"/>
              </a:rPr>
              <a:t>• Prévision comportementale des salariés</a:t>
            </a:r>
            <a:br>
              <a:rPr sz="1200" b="0" i="0">
                <a:solidFill>
                  <a:srgbClr val="CBD5E1"/>
                </a:solidFill>
                <a:latin typeface="Calibri"/>
              </a:rPr>
            </a:br>
            <a:r>
              <a:rPr sz="1200" b="0" i="0">
                <a:solidFill>
                  <a:srgbClr val="CBD5E1"/>
                </a:solidFill>
                <a:latin typeface="Calibri"/>
              </a:rPr>
              <a:t>  en temps réel</a:t>
            </a:r>
            <a:br>
              <a:rPr sz="1200" b="0" i="0">
                <a:solidFill>
                  <a:srgbClr val="CBD5E1"/>
                </a:solidFill>
                <a:latin typeface="Calibri"/>
              </a:rPr>
            </a:br>
            <a:r>
              <a:rPr sz="1200" b="0" i="0">
                <a:solidFill>
                  <a:srgbClr val="CBD5E1"/>
                </a:solidFill>
                <a:latin typeface="Calibri"/>
              </a:rPr>
              <a:t>• Surveillance prédictive : contrôler</a:t>
            </a:r>
            <a:br>
              <a:rPr sz="1200" b="0" i="0">
                <a:solidFill>
                  <a:srgbClr val="CBD5E1"/>
                </a:solidFill>
                <a:latin typeface="Calibri"/>
              </a:rPr>
            </a:br>
            <a:r>
              <a:rPr sz="1200" b="0" i="0">
                <a:solidFill>
                  <a:srgbClr val="CBD5E1"/>
                </a:solidFill>
                <a:latin typeface="Calibri"/>
              </a:rPr>
              <a:t>  avant même l'acte</a:t>
            </a:r>
            <a:br>
              <a:rPr sz="1200" b="0" i="0">
                <a:solidFill>
                  <a:srgbClr val="CBD5E1"/>
                </a:solidFill>
                <a:latin typeface="Calibri"/>
              </a:rPr>
            </a:br>
            <a:br>
              <a:rPr sz="1200" b="0" i="0">
                <a:solidFill>
                  <a:srgbClr val="CBD5E1"/>
                </a:solidFill>
                <a:latin typeface="Calibri"/>
              </a:rPr>
            </a:br>
            <a:r>
              <a:rPr sz="1200" b="0" i="0">
                <a:solidFill>
                  <a:srgbClr val="CBD5E1"/>
                </a:solidFill>
                <a:latin typeface="Calibri"/>
              </a:rPr>
              <a:t>→ Le panopticon parfait ?</a:t>
            </a:r>
            <a:endParaRPr/>
          </a:p>
        </p:txBody>
      </p:sp>
      <p:sp>
        <p:nvSpPr>
          <p:cNvPr id="1390450360" name="Rounded Rectangle 15"/>
          <p:cNvSpPr/>
          <p:nvPr/>
        </p:nvSpPr>
        <p:spPr bwMode="auto">
          <a:xfrm>
            <a:off x="8193024" y="1508759"/>
            <a:ext cx="3886200" cy="4937760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7047755" name="Rectangle 16"/>
          <p:cNvSpPr/>
          <p:nvPr/>
        </p:nvSpPr>
        <p:spPr bwMode="auto">
          <a:xfrm>
            <a:off x="8193024" y="1508759"/>
            <a:ext cx="38862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607289" name="TextBox 17"/>
          <p:cNvSpPr txBox="1"/>
          <p:nvPr/>
        </p:nvSpPr>
        <p:spPr bwMode="auto">
          <a:xfrm>
            <a:off x="8357616" y="1627632"/>
            <a:ext cx="35570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7C3AED"/>
                </a:solidFill>
                <a:latin typeface="Calibri"/>
              </a:rPr>
              <a:t>Robotique</a:t>
            </a:r>
            <a:br>
              <a:rPr sz="1800" b="1" i="0">
                <a:solidFill>
                  <a:srgbClr val="7C3AED"/>
                </a:solidFill>
                <a:latin typeface="Calibri"/>
              </a:rPr>
            </a:br>
            <a:r>
              <a:rPr sz="1800" b="1" i="0">
                <a:solidFill>
                  <a:srgbClr val="7C3AED"/>
                </a:solidFill>
                <a:latin typeface="Calibri"/>
              </a:rPr>
              <a:t>Humanoïde</a:t>
            </a:r>
            <a:endParaRPr/>
          </a:p>
        </p:txBody>
      </p:sp>
      <p:sp>
        <p:nvSpPr>
          <p:cNvPr id="462748431" name="TextBox 18"/>
          <p:cNvSpPr txBox="1"/>
          <p:nvPr/>
        </p:nvSpPr>
        <p:spPr bwMode="auto">
          <a:xfrm>
            <a:off x="8357616" y="2468880"/>
            <a:ext cx="35570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CBD5E1"/>
                </a:solidFill>
                <a:latin typeface="Calibri"/>
              </a:rPr>
              <a:t>Figure AI, Tesla Optimus,</a:t>
            </a:r>
            <a:br>
              <a:rPr sz="1200" b="0" i="0">
                <a:solidFill>
                  <a:srgbClr val="CBD5E1"/>
                </a:solidFill>
                <a:latin typeface="Calibri"/>
              </a:rPr>
            </a:br>
            <a:r>
              <a:rPr sz="1200" b="0" i="0">
                <a:solidFill>
                  <a:srgbClr val="CBD5E1"/>
                </a:solidFill>
                <a:latin typeface="Calibri"/>
              </a:rPr>
              <a:t>Boston Dynamics…</a:t>
            </a:r>
            <a:br>
              <a:rPr sz="1200" b="0" i="0">
                <a:solidFill>
                  <a:srgbClr val="CBD5E1"/>
                </a:solidFill>
                <a:latin typeface="Calibri"/>
              </a:rPr>
            </a:br>
            <a:br>
              <a:rPr sz="1200" b="0" i="0">
                <a:solidFill>
                  <a:srgbClr val="CBD5E1"/>
                </a:solidFill>
                <a:latin typeface="Calibri"/>
              </a:rPr>
            </a:br>
            <a:r>
              <a:rPr sz="1200" b="0" i="0">
                <a:solidFill>
                  <a:srgbClr val="CBD5E1"/>
                </a:solidFill>
                <a:latin typeface="Calibri"/>
              </a:rPr>
              <a:t>• Le robot humanoïde remplace l'ouvrier</a:t>
            </a:r>
            <a:br>
              <a:rPr sz="1200" b="0" i="0">
                <a:solidFill>
                  <a:srgbClr val="CBD5E1"/>
                </a:solidFill>
                <a:latin typeface="Calibri"/>
              </a:rPr>
            </a:br>
            <a:r>
              <a:rPr sz="1200" b="0" i="0">
                <a:solidFill>
                  <a:srgbClr val="CBD5E1"/>
                </a:solidFill>
                <a:latin typeface="Calibri"/>
              </a:rPr>
              <a:t>  dans les tâches physiques</a:t>
            </a:r>
            <a:br>
              <a:rPr sz="1200" b="0" i="0">
                <a:solidFill>
                  <a:srgbClr val="CBD5E1"/>
                </a:solidFill>
                <a:latin typeface="Calibri"/>
              </a:rPr>
            </a:br>
            <a:r>
              <a:rPr sz="1200" b="0" i="0">
                <a:solidFill>
                  <a:srgbClr val="CBD5E1"/>
                </a:solidFill>
                <a:latin typeface="Calibri"/>
              </a:rPr>
              <a:t>• Si le robot coûte moins qu'un salarié</a:t>
            </a:r>
            <a:br>
              <a:rPr sz="1200" b="0" i="0">
                <a:solidFill>
                  <a:srgbClr val="CBD5E1"/>
                </a:solidFill>
                <a:latin typeface="Calibri"/>
              </a:rPr>
            </a:br>
            <a:r>
              <a:rPr sz="1200" b="0" i="0">
                <a:solidFill>
                  <a:srgbClr val="CBD5E1"/>
                </a:solidFill>
                <a:latin typeface="Calibri"/>
              </a:rPr>
              <a:t>  en 10 ans : qui reste dans l'entrepôt ?</a:t>
            </a:r>
            <a:br>
              <a:rPr sz="1200" b="0" i="0">
                <a:solidFill>
                  <a:srgbClr val="CBD5E1"/>
                </a:solidFill>
                <a:latin typeface="Calibri"/>
              </a:rPr>
            </a:br>
            <a:r>
              <a:rPr sz="1200" b="0" i="0">
                <a:solidFill>
                  <a:srgbClr val="CBD5E1"/>
                </a:solidFill>
                <a:latin typeface="Calibri"/>
              </a:rPr>
              <a:t>• Opportunité : libérer l'humain</a:t>
            </a:r>
            <a:br>
              <a:rPr sz="1200" b="0" i="0">
                <a:solidFill>
                  <a:srgbClr val="CBD5E1"/>
                </a:solidFill>
                <a:latin typeface="Calibri"/>
              </a:rPr>
            </a:br>
            <a:r>
              <a:rPr sz="1200" b="0" i="0">
                <a:solidFill>
                  <a:srgbClr val="CBD5E1"/>
                </a:solidFill>
                <a:latin typeface="Calibri"/>
              </a:rPr>
              <a:t>  des tâches pénibles</a:t>
            </a:r>
            <a:br>
              <a:rPr sz="1200" b="0" i="0">
                <a:solidFill>
                  <a:srgbClr val="CBD5E1"/>
                </a:solidFill>
                <a:latin typeface="Calibri"/>
              </a:rPr>
            </a:br>
            <a:br>
              <a:rPr sz="1200" b="0" i="0">
                <a:solidFill>
                  <a:srgbClr val="CBD5E1"/>
                </a:solidFill>
                <a:latin typeface="Calibri"/>
              </a:rPr>
            </a:br>
            <a:r>
              <a:rPr sz="1200" b="0" i="0">
                <a:solidFill>
                  <a:srgbClr val="CBD5E1"/>
                </a:solidFill>
                <a:latin typeface="Calibri"/>
              </a:rPr>
              <a:t>→ Ou : précarisation extrême ?</a:t>
            </a:r>
            <a:endParaRPr/>
          </a:p>
        </p:txBody>
      </p:sp>
      <p:sp>
        <p:nvSpPr>
          <p:cNvPr id="1274647552" name="Rounded Rectangle 19"/>
          <p:cNvSpPr/>
          <p:nvPr/>
        </p:nvSpPr>
        <p:spPr bwMode="auto">
          <a:xfrm>
            <a:off x="292608" y="6492240"/>
            <a:ext cx="11612880" cy="256032"/>
          </a:xfrm>
          <a:prstGeom prst="roundRect">
            <a:avLst>
              <a:gd name="adj" fmla="val 16667"/>
            </a:avLst>
          </a:prstGeom>
          <a:solidFill>
            <a:srgbClr val="C10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89836739" name="TextBox 20"/>
          <p:cNvSpPr txBox="1"/>
          <p:nvPr/>
        </p:nvSpPr>
        <p:spPr bwMode="auto">
          <a:xfrm>
            <a:off x="457200" y="6510528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1250" b="0" i="1">
                <a:solidFill>
                  <a:srgbClr val="FFFFFF"/>
                </a:solidFill>
                <a:latin typeface="Calibri"/>
              </a:rPr>
              <a:t>La technologie peut-elle être mise au service d'un « bon travail » (santé, sens, démocratie) plutôt que d'un simple calcul de flux ?</a:t>
            </a:r>
            <a:endParaRPr/>
          </a:p>
        </p:txBody>
      </p:sp>
      <p:sp>
        <p:nvSpPr>
          <p:cNvPr id="440525661" name="Rectangle 21"/>
          <p:cNvSpPr/>
          <p:nvPr/>
        </p:nvSpPr>
        <p:spPr bwMode="auto">
          <a:xfrm>
            <a:off x="0" y="6578600"/>
            <a:ext cx="12188952" cy="1270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5409350" name="TextBox 22"/>
          <p:cNvSpPr txBox="1"/>
          <p:nvPr/>
        </p:nvSpPr>
        <p:spPr bwMode="auto">
          <a:xfrm>
            <a:off x="320040" y="6604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ETE101  ·  CNAM  ·  Tzvetanka KARANOV, Jovial Bodenan BANGA et Alban VIDELOUP  ·  2026</a:t>
            </a:r>
            <a:endParaRPr/>
          </a:p>
        </p:txBody>
      </p:sp>
      <p:sp>
        <p:nvSpPr>
          <p:cNvPr id="1341536336" name="TextBox 23"/>
          <p:cNvSpPr txBox="1"/>
          <p:nvPr/>
        </p:nvSpPr>
        <p:spPr bwMode="auto">
          <a:xfrm>
            <a:off x="8988552" y="6604000"/>
            <a:ext cx="3017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Numérique &amp; Néo-taylorisme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17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917594" name="Oval 1"/>
          <p:cNvSpPr/>
          <p:nvPr/>
        </p:nvSpPr>
        <p:spPr bwMode="auto">
          <a:xfrm>
            <a:off x="-3657600" y="3200400"/>
            <a:ext cx="7315200" cy="7315200"/>
          </a:xfrm>
          <a:prstGeom prst="ellipse">
            <a:avLst/>
          </a:prstGeom>
          <a:solidFill>
            <a:srgbClr val="38BDF8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58482500" name="Rectangle 2"/>
          <p:cNvSpPr/>
          <p:nvPr/>
        </p:nvSpPr>
        <p:spPr bwMode="auto">
          <a:xfrm>
            <a:off x="292608" y="713232"/>
            <a:ext cx="54864" cy="5303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96405282" name="TextBox 3"/>
          <p:cNvSpPr txBox="1"/>
          <p:nvPr/>
        </p:nvSpPr>
        <p:spPr bwMode="auto">
          <a:xfrm>
            <a:off x="502920" y="71323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 Light"/>
              </a:rPr>
              <a:t>Bibliographie</a:t>
            </a:r>
            <a:endParaRPr/>
          </a:p>
        </p:txBody>
      </p:sp>
      <p:sp>
        <p:nvSpPr>
          <p:cNvPr id="1166336415" name="Rectangle 4"/>
          <p:cNvSpPr/>
          <p:nvPr/>
        </p:nvSpPr>
        <p:spPr bwMode="auto">
          <a:xfrm>
            <a:off x="0" y="6578600"/>
            <a:ext cx="12188952" cy="12700"/>
          </a:xfrm>
          <a:prstGeom prst="rect">
            <a:avLst/>
          </a:prstGeom>
          <a:solidFill>
            <a:srgbClr val="1E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6199433" name="TextBox 5"/>
          <p:cNvSpPr txBox="1"/>
          <p:nvPr/>
        </p:nvSpPr>
        <p:spPr bwMode="auto">
          <a:xfrm>
            <a:off x="320040" y="6604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ETE101  ·  CNAM  ·  Tzvetanka KARANOV, Jovial Bodenan BANGA et Alban VIDELOUP  ·  2026</a:t>
            </a:r>
            <a:endParaRPr/>
          </a:p>
        </p:txBody>
      </p:sp>
      <p:sp>
        <p:nvSpPr>
          <p:cNvPr id="82209381" name="TextBox 6"/>
          <p:cNvSpPr txBox="1"/>
          <p:nvPr/>
        </p:nvSpPr>
        <p:spPr bwMode="auto">
          <a:xfrm>
            <a:off x="8988552" y="6604000"/>
            <a:ext cx="3017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900" b="0" i="0">
                <a:solidFill>
                  <a:srgbClr val="64748B"/>
                </a:solidFill>
                <a:latin typeface="Calibri Light"/>
              </a:rPr>
              <a:t>Numérique &amp; Néo-taylorisme</a:t>
            </a:r>
            <a:endParaRPr/>
          </a:p>
        </p:txBody>
      </p:sp>
      <p:sp>
        <p:nvSpPr>
          <p:cNvPr id="2137953757" name="Rounded Rectangle 7"/>
          <p:cNvSpPr/>
          <p:nvPr/>
        </p:nvSpPr>
        <p:spPr bwMode="auto">
          <a:xfrm>
            <a:off x="292608" y="1417320"/>
            <a:ext cx="5650992" cy="5193792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905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7018394" name="Rectangle 8"/>
          <p:cNvSpPr/>
          <p:nvPr/>
        </p:nvSpPr>
        <p:spPr bwMode="auto">
          <a:xfrm>
            <a:off x="292608" y="1417320"/>
            <a:ext cx="5650992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1002512" name="TextBox 9"/>
          <p:cNvSpPr txBox="1"/>
          <p:nvPr/>
        </p:nvSpPr>
        <p:spPr bwMode="auto">
          <a:xfrm>
            <a:off x="457200" y="1508759"/>
            <a:ext cx="5321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4ADE80"/>
                </a:solidFill>
                <a:latin typeface="Calibri"/>
              </a:rPr>
              <a:t>Articles &amp; recherches</a:t>
            </a:r>
            <a:endParaRPr/>
          </a:p>
        </p:txBody>
      </p:sp>
      <p:sp>
        <p:nvSpPr>
          <p:cNvPr id="1572969548" name="TextBox 10"/>
          <p:cNvSpPr txBox="1"/>
          <p:nvPr/>
        </p:nvSpPr>
        <p:spPr bwMode="auto">
          <a:xfrm>
            <a:off x="457200" y="1947671"/>
            <a:ext cx="532180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r>
              <a:rPr sz="1150">
                <a:solidFill>
                  <a:srgbClr val="CBD5E1"/>
                </a:solidFill>
                <a:latin typeface="Calibri"/>
              </a:rPr>
              <a:t>• Gautié J., Perez C. (2024), « Le Taylorisme à l'âge du numérique.</a:t>
            </a:r>
            <a:br>
              <a:rPr sz="1150">
                <a:solidFill>
                  <a:srgbClr val="CBD5E1"/>
                </a:solidFill>
                <a:latin typeface="Calibri"/>
              </a:rPr>
            </a:br>
            <a:r>
              <a:rPr sz="1150">
                <a:solidFill>
                  <a:srgbClr val="CBD5E1"/>
                </a:solidFill>
                <a:latin typeface="Calibri"/>
              </a:rPr>
              <a:t>L'exemple des entrepôts logistiques », LIEPP/Sciences Po.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150">
                <a:solidFill>
                  <a:srgbClr val="CBD5E1"/>
                </a:solidFill>
                <a:latin typeface="Calibri"/>
              </a:rPr>
              <a:t>• Barbier C., Cuny C., Gaborieau D. (2021), « Régimes d'emploi précaire</a:t>
            </a:r>
            <a:br>
              <a:rPr sz="1150">
                <a:solidFill>
                  <a:srgbClr val="CBD5E1"/>
                </a:solidFill>
                <a:latin typeface="Calibri"/>
              </a:rPr>
            </a:br>
            <a:r>
              <a:rPr sz="1150">
                <a:solidFill>
                  <a:srgbClr val="CBD5E1"/>
                </a:solidFill>
                <a:latin typeface="Calibri"/>
              </a:rPr>
              <a:t>dans le secteur logistique », Travail &amp; Emploi, n°162, pp.23-45.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150">
                <a:solidFill>
                  <a:srgbClr val="CBD5E1"/>
                </a:solidFill>
                <a:latin typeface="Calibri"/>
              </a:rPr>
              <a:t>• Gaborieau D. (2016), « Des usines à colis. Trajectoires ouvrières</a:t>
            </a:r>
            <a:br>
              <a:rPr sz="1150">
                <a:solidFill>
                  <a:srgbClr val="CBD5E1"/>
                </a:solidFill>
                <a:latin typeface="Calibri"/>
              </a:rPr>
            </a:br>
            <a:r>
              <a:rPr sz="1150">
                <a:solidFill>
                  <a:srgbClr val="CBD5E1"/>
                </a:solidFill>
                <a:latin typeface="Calibri"/>
              </a:rPr>
              <a:t>des entrepôts », thèse de doctorat, Université Paris 1.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150">
                <a:solidFill>
                  <a:srgbClr val="CBD5E1"/>
                </a:solidFill>
                <a:latin typeface="Calibri"/>
              </a:rPr>
              <a:t>• Gautié J., Jaehrling K., Perez C. (2020), « Neo-Taylorism in the</a:t>
            </a:r>
            <a:br>
              <a:rPr sz="1150">
                <a:solidFill>
                  <a:srgbClr val="CBD5E1"/>
                </a:solidFill>
                <a:latin typeface="Calibri"/>
              </a:rPr>
            </a:br>
            <a:r>
              <a:rPr sz="1150">
                <a:solidFill>
                  <a:srgbClr val="CBD5E1"/>
                </a:solidFill>
                <a:latin typeface="Calibri"/>
              </a:rPr>
              <a:t>Digital Age », Relations Industrielles, vol.75, n°4, p.774-795.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150">
                <a:solidFill>
                  <a:srgbClr val="CBD5E1"/>
                </a:solidFill>
                <a:latin typeface="Calibri"/>
              </a:rPr>
              <a:t>• Hirsch-Kreinsen H. (2016), « Digitalization and low-skilled work »,</a:t>
            </a:r>
            <a:br>
              <a:rPr sz="1150">
                <a:solidFill>
                  <a:srgbClr val="CBD5E1"/>
                </a:solidFill>
                <a:latin typeface="Calibri"/>
              </a:rPr>
            </a:br>
            <a:r>
              <a:rPr sz="1150">
                <a:solidFill>
                  <a:srgbClr val="CBD5E1"/>
                </a:solidFill>
                <a:latin typeface="Calibri"/>
              </a:rPr>
              <a:t>WISO-Diskurs, Friedrich Ebert Stiftung.</a:t>
            </a:r>
            <a:endParaRPr/>
          </a:p>
        </p:txBody>
      </p:sp>
      <p:sp>
        <p:nvSpPr>
          <p:cNvPr id="1942668941" name="Rounded Rectangle 11"/>
          <p:cNvSpPr/>
          <p:nvPr/>
        </p:nvSpPr>
        <p:spPr bwMode="auto">
          <a:xfrm>
            <a:off x="6236208" y="1417320"/>
            <a:ext cx="5650992" cy="5193792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9050">
            <a:solidFill>
              <a:srgbClr val="1E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6329273" name="Rectangle 12"/>
          <p:cNvSpPr/>
          <p:nvPr/>
        </p:nvSpPr>
        <p:spPr bwMode="auto">
          <a:xfrm>
            <a:off x="6236208" y="1417320"/>
            <a:ext cx="5650992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3362590" name="TextBox 13"/>
          <p:cNvSpPr txBox="1"/>
          <p:nvPr/>
        </p:nvSpPr>
        <p:spPr bwMode="auto">
          <a:xfrm>
            <a:off x="6400800" y="1508759"/>
            <a:ext cx="5321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38BDF8"/>
                </a:solidFill>
                <a:latin typeface="Calibri"/>
              </a:rPr>
              <a:t>Ouvrages &amp; sources d'actualité</a:t>
            </a:r>
            <a:endParaRPr/>
          </a:p>
        </p:txBody>
      </p:sp>
      <p:sp>
        <p:nvSpPr>
          <p:cNvPr id="603096272" name="TextBox 14"/>
          <p:cNvSpPr txBox="1"/>
          <p:nvPr/>
        </p:nvSpPr>
        <p:spPr bwMode="auto">
          <a:xfrm>
            <a:off x="6400800" y="1947671"/>
            <a:ext cx="5321808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/>
            </a:pPr>
            <a:r>
              <a:rPr sz="1150">
                <a:solidFill>
                  <a:srgbClr val="CBD5E1"/>
                </a:solidFill>
                <a:latin typeface="Calibri"/>
              </a:rPr>
              <a:t>• Rifkin J. (1995/1996), La Fin du travail, La Découverte.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150">
                <a:solidFill>
                  <a:srgbClr val="CBD5E1"/>
                </a:solidFill>
                <a:latin typeface="Calibri"/>
              </a:rPr>
              <a:t>• Perez C., Coutrot T. (2022), Redonner du sens au travail,</a:t>
            </a:r>
            <a:br>
              <a:rPr sz="1150">
                <a:solidFill>
                  <a:srgbClr val="CBD5E1"/>
                </a:solidFill>
                <a:latin typeface="Calibri"/>
              </a:rPr>
            </a:br>
            <a:r>
              <a:rPr sz="1150">
                <a:solidFill>
                  <a:srgbClr val="CBD5E1"/>
                </a:solidFill>
                <a:latin typeface="Calibri"/>
              </a:rPr>
              <a:t>Seuil (coll. « La République des idées »).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150">
                <a:solidFill>
                  <a:srgbClr val="CBD5E1"/>
                </a:solidFill>
                <a:latin typeface="Calibri"/>
              </a:rPr>
              <a:t>• Clot Y. (2010), Le travail à cœur. Pour en finir avec les</a:t>
            </a:r>
            <a:br>
              <a:rPr sz="1150">
                <a:solidFill>
                  <a:srgbClr val="CBD5E1"/>
                </a:solidFill>
                <a:latin typeface="Calibri"/>
              </a:rPr>
            </a:br>
            <a:r>
              <a:rPr sz="1150">
                <a:solidFill>
                  <a:srgbClr val="CBD5E1"/>
                </a:solidFill>
                <a:latin typeface="Calibri"/>
              </a:rPr>
              <a:t>risques psychosociaux, La Découverte.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150">
                <a:solidFill>
                  <a:srgbClr val="CBD5E1"/>
                </a:solidFill>
                <a:latin typeface="Calibri"/>
              </a:rPr>
              <a:t>• Dujarier A.-M. (2015), Le management désincarné, La Découverte.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150">
                <a:solidFill>
                  <a:srgbClr val="CBD5E1"/>
                </a:solidFill>
                <a:latin typeface="Calibri"/>
              </a:rPr>
              <a:t>• Public Sénat (2022), « La santé des livreurs Uber Eats et Deliveroo ».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150">
                <a:solidFill>
                  <a:srgbClr val="CBD5E1"/>
                </a:solidFill>
                <a:latin typeface="Calibri"/>
              </a:rPr>
              <a:t>• Directive européenne 2024/2831 sur le travail via les plateformes.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150">
                <a:solidFill>
                  <a:srgbClr val="CBD5E1"/>
                </a:solidFill>
                <a:latin typeface="Calibri"/>
              </a:rPr>
              <a:t>• Microsoft Work Trend Index (2023) — surcharge applicative.</a:t>
            </a:r>
            <a:endParaRPr/>
          </a:p>
          <a:p>
            <a:pPr>
              <a:spcBef>
                <a:spcPts val="500"/>
              </a:spcBef>
              <a:defRPr/>
            </a:pPr>
            <a:r>
              <a:rPr sz="1150">
                <a:solidFill>
                  <a:srgbClr val="CBD5E1"/>
                </a:solidFill>
                <a:latin typeface="Calibri"/>
              </a:rPr>
              <a:t>• ANACT (2023) — Rapport conditions de travail et burn-out.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2026-05-05T21:20:30Z</dcterms:modified>
  <cp:category/>
</cp:coreProperties>
</file>